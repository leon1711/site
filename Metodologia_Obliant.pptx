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Metodologia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Governança, Projetos e Mudança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 ·  GMO  ·  PM&amp;GO   —   Framework + Roadmap + Diagnóstico, na mesma régua de maturidade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Ativo interno · times comercial e de consultoria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LER ESTE MATERIAL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Cada produto segue a mesma estrutura de 5 blocos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sequência A–E se repete em EPP, GMO e PM&amp;GO — leia qualquer frente da mesma forma.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Objetivo, escopo, pilares e entregáveis do produto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12694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9854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949854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49854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organizadas por nível de maturidade — uma jornada, não uma lista de serviços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76749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3909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213909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3909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régua única de 5 níveis aplicada à frente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40803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77963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477963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77963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que posiciona o cliente na régua e devolve o roadmap recomendado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604858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42018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742018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RACI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742018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Papéis e responsabilidades entre Obliant, cliente e estruturas de governança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 + Roadmap + Diagnóstico são três camadas distintas que se empilham — não a mesma coisa com nomes diferentes.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ARQUITETURA DA METODOLOGIA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produtos, uma metodologia, uma régua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entrega · GMO adota · PM&amp;GO integra — todos posicionados na mesma régua de maturidade de 5 níveis.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65960"/>
            <a:ext cx="3514344" cy="73152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Estrutura, controla e entrega: método, portfólio, processos e indicadores.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EPP é o produto; quem o opera é um PMO (time/estrutura).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37304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7304" y="1965960"/>
            <a:ext cx="3514344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4520184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20184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20184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Projetos e Mudança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20184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 um projeto combinando EPP (entrega) + GMO (adoção).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20184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exclusivo: modo de atuação da Obliant — Suporte → Controle → Diretivo.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125968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25968" y="1965960"/>
            <a:ext cx="3514344" cy="73152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24" name="Text 22"/>
          <p:cNvSpPr/>
          <p:nvPr/>
        </p:nvSpPr>
        <p:spPr>
          <a:xfrm>
            <a:off x="8308848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ADOÇÃO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08848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308848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08848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 o lado humano da transformação — adoção e sustentação.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08848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 proprietários Obliant. Referências de mercado (ADKAR, Kotter, ACMP, SAP/Oracle OCM) apenas como base conceitual.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8640" y="4892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RÉGUA ÚNICA DE MATURIDADE — compartilhada pelas três frentes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· Inicial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8368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794406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04134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· Emergente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904134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040173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49901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· Estruturado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49901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285939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95667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 · Integrado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395667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9531706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41434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· Excelência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41434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  —  Entrega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Estrutura, controla e entrega: método, portfólio, processos e indicadores.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 à organização capacidade estável de priorizar, executar e medir projetos e processos — operado por um PMO.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Método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0025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200025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Portfólio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186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186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Processos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47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90347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Indicadores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Portfólio priorizado de iniciativas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de gestão de projetos (ciclo de vida + templates)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e redesenho de processos críticos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governança (ritos, alçadas e comitês)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indicadores de entrega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gestão de riscos e mudanças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&amp; Portfólio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Seleção e priorização de iniciativas conectadas à estratégia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&amp; Métodos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 vida, práticas e templates de gestão de projetos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Processos &amp; Fluxos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Mapeamento, redesenho e padronização de processos de negócio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&amp; Papéis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Ritos, alçadas, comitês e papéis de decisão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&amp; Desempenho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 de entrega, painéis e rotina de gestão à vista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Ferramentas &amp; Tecnologia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Plataformas de gestão, automação e integração de dados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Pessoas &amp; Competências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Capacidades do time de projetos e trilhas de desenvolvimento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&amp; Qualidade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riscos, mudanças de escopo e garantia de qualidade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Inventário de projetos e processos existentes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de patrocínio e papéis mínimos de gestão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único de status report para iniciativas prioritárias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wins de padronização (templates essenciais)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de escopo para os projetos críticos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básica de projetos (ciclo de vida em fases)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de templates: TAP, cronograma, matriz de riscos, status report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 de acompanhamento (reunião de status e comitê mensal)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dos processos críticos (AS-IS)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essenciais de prazo e custo por projeto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portfólio com critérios de priorização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Formalização do PMO (mandato, time e cadência)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estruturada de riscos e mudanças de escopo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Redesenho dos processos críticos (TO-BE) com donos definidos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executivo de indicadores de entrega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portfólio ↔ orçamento e planejamento anual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capacidade e alocação de recursos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Automação de fluxos de trabalho e coleta de indicadores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benefícios: metas de valor por iniciativa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Auditorias periódicas de qualidade de método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por valor: portfólio dirigido por benefícios realizados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preditivo de prazo, custo e risco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institucionalizada do método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Inovação de práticas (ágil, híbrido, IA aplicada à gestão)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externo e certificação de excelência</a:t>
            </a:r>
            <a:endParaRPr lang="en-US" sz="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— fluxo do diagnóstico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Avalie cada dimensão de 1 (inexistente/ad hoc) a 5 (excelência). O resultado posiciona o cliente na régua e recomenda as iniciativas do próximo nível.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dimensões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avaliadas 1–5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063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médio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régua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239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5216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Detalhamento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dimensão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7415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0392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998D6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nível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1 · METODOLOGIA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 um método único de gestão de projetos, com ciclo de vida e templates, aplicado de forma consistente?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3984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2 · PORTFÓLIO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3984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iniciativas são priorizadas com critérios claros e conectadas à estratégia?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5008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3 · PROCESSOS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02168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processos críticos estão mapeados, padronizados e têm donos definidos?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4 · GOVERNANÇA &amp; PAPÉIS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Ritos, comitês e alçadas de decisão funcionam com cadência e consequência?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06824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5 · INDICADORES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43984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entrega é medida por indicadores confiáveis, usados de fato na tomada de decisão?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5008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6 · FERRAMENTAS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02168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plataformas de gestão sustentam o método e dão visibilidade integrada do portfólio?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PMO (cliente)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Gestores de área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Equipes de projeto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Desenho do método e do modelo de governança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Priorização do portfólio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Condução dos ritos de acompanhamento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Mapeamento e redesenho de processos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Gestão de riscos e mudanças de escopo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Painel de indicadores e gestão à vista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Evolução contínua do método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  —  Adoção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 o lado humano da transformação — adoção e sustentação.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Garantir que as pessoas adotem e sustentem a transformação — reduzindo resistência e acelerando o retorno das iniciativas.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Diagnosticar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09928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1709928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Preparar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871216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2871216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Engajar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032504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032504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Capacitar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93792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193792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Sustentar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48640" y="26974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conceitual: ADKAR, Kotter, ACMP, SAP/Oracle OCM.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Readiness Assessment (prontidão para mudança)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 (avaliação de impactos organizacionais)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de stakeholders &amp; plano de comunicação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capacitação e treinamento por perfil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gestão de resistências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métricas de adoção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sustentação e reforço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&amp; Liderança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Sponsors ativos e coalizão de líderes visíveis na mudança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Prontidão para Mudança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readiness: histórico, cultura e disposição da organização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Impactos Organizacionais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assessment: o que muda para quem, em processo, sistema e papel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 &amp; Comunicação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de públicos e estratégia de comunicação segmentada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Capacitação &amp; Treinamento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treinamento por perfil e avaliação de aprendizagem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Resistências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Identificação, escuta e tratamento ativo de resistências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de uso, adesão e comportamento pós-implantação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Sustentação &amp; Reforço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Mecanismos de reforço para a mudança não regredir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inicial de stakeholders e públicos impactados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de prontidão para mudança (change readiness)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Alinhamento e ativação do patrocínio executivo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Comunicação de partida (kick-off) da transformação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Levantamento do histórico de mudanças da organização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estruturado por público e canal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de impactos organizacionais (impact assessment)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Formação da rede de agentes de mudança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engajamento de lideranças intermediárias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Canais de escuta e FAQ vivos da transformação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integrada de stakeholders com plano por segmento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capacitação por perfil e papel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ativa de resistências (identificação e tratamento)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Rituais de reforço com lideranças e times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Pesquisa de pulso periódica de engajamento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 e uso integradas aos projetos (gates de adoção)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de champions e multiplicadores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sustentação pós-implantação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 feedback estruturado com ajustes de rota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da GMO ao ciclo de vida de todo projeto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Cultura de mudança contínua institucionalizada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interna de OCM formada e autônoma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preditiva de adoção e risco de regressão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Comunidade de prática de gestão da mudança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do método com benchmark externo</a:t>
            </a:r>
            <a:endParaRPr lang="en-US" sz="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— fluxo do diagnóstico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Avalie cada dimensão de 1 (inexistente/ad hoc) a 5 (excelência). O resultado posiciona o cliente na régua e recomenda as iniciativas do próximo nível.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dimensões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avaliadas 1–5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063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médio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régua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239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5216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Detalhamento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dimensão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7415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0392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998D6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nível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1 · PATROCÍNIO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sponsors são ativos e visíveis, dedicando tempo real à mudança?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3984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2 · COMUNICAÇÃO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3984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comunicação é planejada por público, com canais definidos e mensagem consistente?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5008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3 · IMPACTOS &amp; PRONTIDÃO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02168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impactos da mudança são avaliados formalmente e a prontidão da organização é conhecida?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4 · CAPACITAÇÃO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Existem trilhas de treinamento por perfil, com avaliação de aprendizagem?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06824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5 · RESISTÊNCIAS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43984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resistências são identificadas e tratadas de forma ativa e estruturada?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5008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6 · ADOÇÃO &amp; SUSTENTAÇÃO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02168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adoção é medida após a implantação e existem mecanismos de reforço?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GMO (cliente)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Líderes / Gestores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Colaboradores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Change readiness e avaliação de impactos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Estratégia de stakeholders e comunicação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Execução do plano de comunicação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Capacitação e treinamento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Gestão de resistências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Medição de adoção e sustentação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Ativação e coaching de sponsors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Projetos e Mudança  —  Integração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 um projeto combinando EPP (entrega) + GMO (adoção).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Governar um projeto crítico de ponta a ponta, unindo a disciplina de entrega (EPP) e a disciplina de adoção (GMO) sob uma única governança.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Entrega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0025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200025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Adoção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186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186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Governança única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47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90347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Modo de atuação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governança integrada do projeto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integrado de projeto (escopo, prazo, custo)   [PMO]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integrada de riscos (entrega + adoção)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 e plano de adoção   [GMO]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e stakeholders do projeto   [GMO]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duplo: entrega × adoção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 de escopo, cronograma e custos   [PMO]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do modo de atuação (Suporte/Controle/Diretivo)   [COMP.]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único modelo de decisão para entrega e adoção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Planejamento &amp; Entrega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Escopo, prazo, custo e qualidade do projeto (lado EPP)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Adoção &amp; Pessoas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Prontidão, engajamento e sustentação (lado GMO)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Executivo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 único respondendo pelos dois eixos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 &amp; Comunicação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compartilhada de públicos e mensagens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Integrados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de entrega e riscos de adoção na mesma matriz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Duplos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único: % de entrega × % de adoção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Modo de Atuação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Intensidade Obliant: Suporte, Controle ou Diretivo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VENN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é do PMO, o que é do GMO, o que é compartilhado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entregável e atividade do PM&amp;GO é etiquetado (PMO / GMO / compartilhado) para o Venn ser operacional, não só conceitual.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06240" y="1920240"/>
            <a:ext cx="2103120" cy="2103120"/>
          </a:xfrm>
          <a:prstGeom prst="ellipse">
            <a:avLst/>
          </a:prstGeom>
          <a:solidFill>
            <a:srgbClr val="4A5C72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806440" y="1920240"/>
            <a:ext cx="2103120" cy="2103120"/>
          </a:xfrm>
          <a:prstGeom prst="ellipse">
            <a:avLst/>
          </a:prstGeom>
          <a:solidFill>
            <a:srgbClr val="998D67">
              <a:alpha val="8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2697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697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94960" y="278892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COMPARTILHADO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48640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PMO — ENTREGA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94944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Escopo, prazo e custo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Cronograma e dependências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riscos de entrega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Qualidade e aceite técnico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fornecedores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4322064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BF9F2"/>
          </a:solidFill>
          <a:ln w="9525">
            <a:solidFill>
              <a:srgbClr val="998D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68368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COMPARTILHADO — GOVERNANÇA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68368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e ritos do projeto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executivo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de stakeholders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entrega × adoção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de riscos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8095488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1792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GMO — ADOÇÃO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41792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Comunicação e engajamento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Impactos organizacionais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Capacitação e treinamento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resistências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 e sustentação</a:t>
            </a:r>
            <a:endParaRPr lang="en-US" sz="8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rápido do projeto: entrega e adoção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de sponsor único e mandato da governança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unificado de stakeholders do projeto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 mínimos de governança integrada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inicial do modo de atuação da Obliant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integrado de projeto (entrega + adoção)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riscos unificada (entrega e adoção)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do projeto por público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Cadência de comitês com pauta dupla (entrega × adoção)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Etiquetagem das atividades: PMO, GMO ou compartilhado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duplo operante: % entrega × % adoção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 de fase condicionados a critérios de adoção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ativa de resistências dentro do projeto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capacitação sincronizadas ao cronograma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Revisão periódica do modo de atuação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do projeto ao portfólio e ao orçamento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benefício: valor entregue × valor adotado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de champions dentro do projeto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Auditoria integrada de qualidade (método + adoção)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 de transição para operação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como padrão de todo projeto crítico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preditivo de entrega e de adoção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Transferência de capacidade: cliente autônomo no modelo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do playbook integrado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externo de governança de projetos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de fit — dois eixos, produto e modo certos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o PM&amp;GO o assessment mede adequação (fit), não só maturidade: 6 perguntas em dois eixos — A (necessidade de entrega) e B (necessidade de adoção). O resultado recomenda o produto certo e o modo de atuação.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08676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039112"/>
            <a:ext cx="50794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A · NECESSIDADE DE ENTREGA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3232" y="2350008"/>
            <a:ext cx="50794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 de entrega — O projeto tem alta complexidade de escopo, prazo ou orçamento (multiáreas, fornecedores, dependências)?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Histórico de entrega — A organização tem histórico de atrasos, estouros de custo ou projetos abandonados?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de gestão — Falta hoje método, papéis ou governança para conduzir esse projeto internamente?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31636" y="1920240"/>
            <a:ext cx="5408676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96228" y="2039112"/>
            <a:ext cx="50794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B · NECESSIDADE DE ADOÇÃO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96228" y="2350008"/>
            <a:ext cx="50794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 nas pessoas — A mudança altera de forma significativa rotinas, papéis ou a forma de trabalhar das pessoas?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 de resistência — Há risco relevante de resistência, baixa adesão ou regressão ao modo antigo?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Dependência de adoção — O retorno do projeto depende diretamente de as pessoas usarem/adotarem o novo modelo?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443484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RECOMENDAÇÃO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27432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" y="4773168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alto · B baixo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6656" y="49834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29000" y="4709160"/>
            <a:ext cx="2743200" cy="621792"/>
          </a:xfrm>
          <a:prstGeom prst="roundRect">
            <a:avLst>
              <a:gd name="adj" fmla="val 8824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57016" y="4773168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alto · B alto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557016" y="49834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422392"/>
            <a:ext cx="27432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6656" y="548640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baixo · B baixo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76656" y="56967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Suporte leve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29000" y="5422392"/>
            <a:ext cx="27432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57016" y="5486400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baixo · B alto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57016" y="56967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66560" y="4434840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MODO DE ATUAÇÃO (INTENSIDADE)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66560" y="470916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4A5C72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47091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Suporte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75320" y="4709160"/>
            <a:ext cx="33649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 razoável e criticidade baixa a média.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766560" y="5184648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4A5C72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0" y="51846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275320" y="5184648"/>
            <a:ext cx="33649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 em construção ou criticidade relevante.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766560" y="5660136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4A5C72"/>
          </a:solidFill>
          <a:ln/>
        </p:spPr>
      </p:sp>
      <p:sp>
        <p:nvSpPr>
          <p:cNvPr id="35" name="Text 33"/>
          <p:cNvSpPr/>
          <p:nvPr/>
        </p:nvSpPr>
        <p:spPr>
          <a:xfrm>
            <a:off x="6766560" y="56601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Diretivo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275320" y="5660136"/>
            <a:ext cx="33649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Baixa maturidade e alta criticidade — momentos decisivos.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PMO do projeto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GMO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Líderes / Equipes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Governança integrada e ritos do projeto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Planejamento e controle de entrega   [PMO]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Plano e execução da adoção   [GMO]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Matriz integrada de riscos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Comunicação e stakeholders   [GMO]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Painel duplo entrega × adoção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Definição e revisão do modo de atuação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GLOSSÁRIO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Termos e definições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Vocabulário comum — o mesmo no deck e no site.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7510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97510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 — o produto de entrega. Operado por um PMO.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231636" y="192024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8796" y="197510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68996" y="197510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Management Office: time/estrutura que opera o EPP e conduz projetos.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48640" y="2688336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43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2743200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Organizacional: trata o lado humano da transformação — adoção e sustentação.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231636" y="2688336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68796" y="2743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68996" y="2743200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um projeto, combinando EPP (entrega) + GMO (adoção).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" y="3456432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511296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86000" y="3511296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que posiciona o cliente na régua de maturidade e gera o roadmap recomendado.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31636" y="3456432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68796" y="3511296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Maturidade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68996" y="3511296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Régua de 5 níveis (Inicial → Excelência) comum aos três produtos.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8640" y="4224528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27939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4279392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papéis: Responsável, Aprovador, Consultado, Informado.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231636" y="4224528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8796" y="427939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OCM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68996" y="4279392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Organizational Change Management; base conceitual do GMO (ADKAR, Kotter, ACMP).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48640" y="4992624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04748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Modo de atuação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286000" y="5047488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Intensidade da atuação Obliant no PM&amp;GO: Suporte → Controle → Diretivo.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231636" y="4992624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68796" y="504748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968996" y="5047488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 camada de cada produto: objetivo, escopo, pilares e entregáveis.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" y="576072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581558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286000" y="581558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Segunda camada: iniciativas organizadas por nível de maturidade — jornada de evolução.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231636" y="576072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68796" y="581558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Fit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968996" y="581558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Adequação: o assessment do PM&amp;GO mede necessidade de entrega × necessidade de adoção.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Uma metodologia.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produtos. Uma régua.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entrega  ·  GMO adota  ·  PM&amp;GO integra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Metodologia Governança, Projetos e Mudança</dc:title>
  <dc:subject>PptxGenJS Presentation</dc:subject>
  <dc:creator>Obliant Digital</dc:creator>
  <cp:lastModifiedBy>Obliant Digital</cp:lastModifiedBy>
  <cp:revision>1</cp:revision>
  <dcterms:created xsi:type="dcterms:W3CDTF">2026-07-02T03:33:36Z</dcterms:created>
  <dcterms:modified xsi:type="dcterms:W3CDTF">2026-07-02T03:33:36Z</dcterms:modified>
</cp:coreProperties>
</file>