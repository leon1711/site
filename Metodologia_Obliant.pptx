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A5C7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998D6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029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</a:t>
            </a:r>
            <a:pPr indent="0" marL="0">
              <a:buNone/>
            </a:pPr>
            <a:r>
              <a:rPr lang="en-US" sz="1000" b="1" spc="4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2103120"/>
            <a:ext cx="10515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4400" dirty="0">
                <a:solidFill>
                  <a:srgbClr val="FFFDF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Metodologia</a:t>
            </a:r>
            <a:endParaRPr lang="en-US" sz="44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400" dirty="0">
                <a:solidFill>
                  <a:srgbClr val="FFFDF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Governança, Projetos e Mudança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548640" y="411480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EPP  ·  GMO  ·  PM&amp;GO   —   Framework + Roadmap + Diagnóstico, na mesma régua de maturidade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59436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9C3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Uso comercial e de consultoria · material exclusivo Obliant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</a:t>
            </a:r>
            <a:pPr indent="0" marL="0">
              <a:buNone/>
            </a:pPr>
            <a:r>
              <a:rPr lang="en-US" sz="1000" b="1" spc="4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COMO LER ESTE MATERIAL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Cada produto segue a mesma estrutura de 5 blocos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11064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sequência A–E se repete em EPP, GMO e PM&amp;GO — leia qualquer frente da mesma forma.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Metodologia Governança, Projetos e Mudança  ·  material interno e exclusivo Obliant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DIGITAL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48640" y="2057400"/>
            <a:ext cx="2035454" cy="3108960"/>
          </a:xfrm>
          <a:prstGeom prst="roundRect">
            <a:avLst>
              <a:gd name="adj" fmla="val 2695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240280"/>
            <a:ext cx="176113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685800" y="2834640"/>
            <a:ext cx="176113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Framework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85800" y="3246120"/>
            <a:ext cx="1761134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Objetivo, escopo, pilares e entregáveis do produto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812694" y="2057400"/>
            <a:ext cx="2035454" cy="3108960"/>
          </a:xfrm>
          <a:prstGeom prst="roundRect">
            <a:avLst>
              <a:gd name="adj" fmla="val 2695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49854" y="2240280"/>
            <a:ext cx="176113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B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2949854" y="2834640"/>
            <a:ext cx="176113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Roadmap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949854" y="3246120"/>
            <a:ext cx="1761134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Iniciativas organizadas por nível de maturidade — uma jornada, não uma lista de serviços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076749" y="2057400"/>
            <a:ext cx="2035454" cy="3108960"/>
          </a:xfrm>
          <a:prstGeom prst="roundRect">
            <a:avLst>
              <a:gd name="adj" fmla="val 2695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13909" y="2240280"/>
            <a:ext cx="176113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5213909" y="2834640"/>
            <a:ext cx="176113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Maturidade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213909" y="3246120"/>
            <a:ext cx="1761134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régua única de 5 níveis aplicada à frente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40803" y="2057400"/>
            <a:ext cx="2035454" cy="3108960"/>
          </a:xfrm>
          <a:prstGeom prst="roundRect">
            <a:avLst>
              <a:gd name="adj" fmla="val 2695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477963" y="2240280"/>
            <a:ext cx="176113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D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7477963" y="2834640"/>
            <a:ext cx="176113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Assessment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477963" y="3246120"/>
            <a:ext cx="1761134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Diagnóstico que posiciona o cliente na régua e devolve o roadmap recomendado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604858" y="2057400"/>
            <a:ext cx="2035454" cy="3108960"/>
          </a:xfrm>
          <a:prstGeom prst="roundRect">
            <a:avLst>
              <a:gd name="adj" fmla="val 2695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742018" y="2240280"/>
            <a:ext cx="176113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9742018" y="2834640"/>
            <a:ext cx="176113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RACI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742018" y="3246120"/>
            <a:ext cx="1761134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Papéis e responsabilidades entre Obliant, cliente e estruturas de governança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48640" y="54406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Framework + Roadmap + Diagnóstico são três camadas distintas que se empilham — não a mesma coisa com nomes diferentes.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</a:t>
            </a:r>
            <a:pPr indent="0" marL="0">
              <a:buNone/>
            </a:pPr>
            <a:r>
              <a:rPr lang="en-US" sz="1000" b="1" spc="4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ARQUITETURA DA METODOLOGIA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Três produtos, uma metodologia, uma régua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11064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EPP entrega · GMO adota · PM&amp;GO integra — todos posicionados na mesma régua de maturidade de 5 níveis.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Metodologia Governança, Projetos e Mudança  ·  material interno e exclusivo Obliant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DIGITAL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3514344" cy="26517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1965960"/>
            <a:ext cx="3514344" cy="73152"/>
          </a:xfrm>
          <a:prstGeom prst="rect">
            <a:avLst/>
          </a:prstGeom>
          <a:solidFill>
            <a:srgbClr val="4A5C72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148840"/>
            <a:ext cx="31485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ENTREGA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31520" y="2404872"/>
            <a:ext cx="31485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EPP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731520" y="2880360"/>
            <a:ext cx="314858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Escritório de Projetos e Processos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31520" y="3246120"/>
            <a:ext cx="314858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Estrutura, controla e entrega: método, portfólio, processos e indicadores.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31520" y="4023360"/>
            <a:ext cx="314858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 EPP é o produto; quem o opera é um PMO (time/estrutura).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337304" y="1965960"/>
            <a:ext cx="3514344" cy="26517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337304" y="1965960"/>
            <a:ext cx="3514344" cy="73152"/>
          </a:xfrm>
          <a:prstGeom prst="rect">
            <a:avLst/>
          </a:prstGeom>
          <a:solidFill>
            <a:srgbClr val="998D67"/>
          </a:solidFill>
          <a:ln/>
        </p:spPr>
      </p:sp>
      <p:sp>
        <p:nvSpPr>
          <p:cNvPr id="17" name="Text 15"/>
          <p:cNvSpPr/>
          <p:nvPr/>
        </p:nvSpPr>
        <p:spPr>
          <a:xfrm>
            <a:off x="4520184" y="2148840"/>
            <a:ext cx="31485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INTEGRAÇÃO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20184" y="2404872"/>
            <a:ext cx="31485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PM&amp;GO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4520184" y="2880360"/>
            <a:ext cx="314858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Governança Integrada de Projetos e Mudança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20184" y="3246120"/>
            <a:ext cx="314858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 um projeto combinando EPP (entrega) + GMO (adoção).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520184" y="4023360"/>
            <a:ext cx="314858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Eixo exclusivo: modo de atuação da Obliant — Suporte → Controle → Diretivo.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8125968" y="1965960"/>
            <a:ext cx="3514344" cy="26517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25968" y="1965960"/>
            <a:ext cx="3514344" cy="73152"/>
          </a:xfrm>
          <a:prstGeom prst="rect">
            <a:avLst/>
          </a:prstGeom>
          <a:solidFill>
            <a:srgbClr val="4A5C72"/>
          </a:solidFill>
          <a:ln/>
        </p:spPr>
      </p:sp>
      <p:sp>
        <p:nvSpPr>
          <p:cNvPr id="24" name="Text 22"/>
          <p:cNvSpPr/>
          <p:nvPr/>
        </p:nvSpPr>
        <p:spPr>
          <a:xfrm>
            <a:off x="8308848" y="2148840"/>
            <a:ext cx="31485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ADOÇÃO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308848" y="2404872"/>
            <a:ext cx="31485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GMO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8308848" y="2880360"/>
            <a:ext cx="314858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Gestão da Mudança Organizacional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308848" y="3246120"/>
            <a:ext cx="314858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Trata o lado humano da transformação — adoção e sustentação.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308848" y="4023360"/>
            <a:ext cx="314858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Pilares proprietários Obliant. Referências de mercado (ADKAR, Kotter, ACMP, SAP/Oracle OCM) apenas como base conceitual.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548640" y="4892040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RÉGUA ÚNICA DE MATURIDADE — compartilhada pelas três frentes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48640" y="5212080"/>
            <a:ext cx="2108606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8368" y="5276088"/>
            <a:ext cx="188915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 · Inicial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58368" y="5550408"/>
            <a:ext cx="188915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Práticas ad hoc, dependentes de pessoas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2794406" y="5212080"/>
            <a:ext cx="2108606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904134" y="5276088"/>
            <a:ext cx="188915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2 · Emergente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2904134" y="5550408"/>
            <a:ext cx="188915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Primeiras práticas definidas, aplicação irregular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5040173" y="5212080"/>
            <a:ext cx="2108606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149901" y="5276088"/>
            <a:ext cx="188915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3 · Estruturado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5149901" y="5550408"/>
            <a:ext cx="188915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Método padronizado e adotado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7285939" y="5212080"/>
            <a:ext cx="2108606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95667" y="5276088"/>
            <a:ext cx="188915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4 · Integrado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7395667" y="5550408"/>
            <a:ext cx="188915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Gestão integrada e orientada a dados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9531706" y="5212080"/>
            <a:ext cx="2108606" cy="777240"/>
          </a:xfrm>
          <a:prstGeom prst="roundRect">
            <a:avLst>
              <a:gd name="adj" fmla="val 7059"/>
            </a:avLst>
          </a:prstGeom>
          <a:solidFill>
            <a:srgbClr val="4A5C72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641434" y="5276088"/>
            <a:ext cx="188915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DF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5 · Excelência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9641434" y="5550408"/>
            <a:ext cx="188915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B9C3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Melhoria contínua e valor estratégico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4A5C7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</a:t>
            </a:r>
            <a:pPr indent="0" marL="0">
              <a:buNone/>
            </a:pPr>
            <a:r>
              <a:rPr lang="en-US" sz="1000" b="1" spc="4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828800"/>
            <a:ext cx="2743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01</a:t>
            </a:r>
            <a:endParaRPr lang="en-US" sz="8000" dirty="0"/>
          </a:p>
        </p:txBody>
      </p:sp>
      <p:sp>
        <p:nvSpPr>
          <p:cNvPr id="4" name="Text 2"/>
          <p:cNvSpPr/>
          <p:nvPr/>
        </p:nvSpPr>
        <p:spPr>
          <a:xfrm>
            <a:off x="548640" y="320040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FFFDF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EPP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548640" y="416052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Escritório de Projetos e Processos  —  Entrega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4617720"/>
            <a:ext cx="8686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C3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Estrutura, controla e entrega: método, portfólio, processos e indicadores.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998D67"/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</a:t>
            </a:r>
            <a:pPr indent="0" marL="0">
              <a:buNone/>
            </a:pPr>
            <a:r>
              <a:rPr lang="en-US" sz="1000" b="1" spc="4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EPP · BLOCO 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Framework — objetivo, pilares e entregáveis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11064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Dar à organização capacidade estável de priorizar, executar e medir projetos e processos — operado por um PMO.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Metodologia Governança, Projetos e Mudança  ·  material interno e exclusivo Obliant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DIGITAL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48640" y="1874520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PILARES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2148840"/>
            <a:ext cx="1314450" cy="502920"/>
          </a:xfrm>
          <a:prstGeom prst="roundRect">
            <a:avLst>
              <a:gd name="adj" fmla="val 10909"/>
            </a:avLst>
          </a:prstGeom>
          <a:solidFill>
            <a:srgbClr val="4A5C72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148840"/>
            <a:ext cx="131445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· Método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000250" y="2148840"/>
            <a:ext cx="1314450" cy="502920"/>
          </a:xfrm>
          <a:prstGeom prst="roundRect">
            <a:avLst>
              <a:gd name="adj" fmla="val 10909"/>
            </a:avLst>
          </a:prstGeom>
          <a:solidFill>
            <a:srgbClr val="4A5C72"/>
          </a:solidFill>
          <a:ln/>
        </p:spPr>
      </p:sp>
      <p:sp>
        <p:nvSpPr>
          <p:cNvPr id="12" name="Text 10"/>
          <p:cNvSpPr/>
          <p:nvPr/>
        </p:nvSpPr>
        <p:spPr>
          <a:xfrm>
            <a:off x="2000250" y="2148840"/>
            <a:ext cx="131445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· Portfólio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451860" y="2148840"/>
            <a:ext cx="1314450" cy="502920"/>
          </a:xfrm>
          <a:prstGeom prst="roundRect">
            <a:avLst>
              <a:gd name="adj" fmla="val 10909"/>
            </a:avLst>
          </a:prstGeom>
          <a:solidFill>
            <a:srgbClr val="4A5C72"/>
          </a:solidFill>
          <a:ln/>
        </p:spPr>
      </p:sp>
      <p:sp>
        <p:nvSpPr>
          <p:cNvPr id="14" name="Text 12"/>
          <p:cNvSpPr/>
          <p:nvPr/>
        </p:nvSpPr>
        <p:spPr>
          <a:xfrm>
            <a:off x="3451860" y="2148840"/>
            <a:ext cx="131445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· Processos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903470" y="2148840"/>
            <a:ext cx="1314450" cy="502920"/>
          </a:xfrm>
          <a:prstGeom prst="roundRect">
            <a:avLst>
              <a:gd name="adj" fmla="val 10909"/>
            </a:avLst>
          </a:prstGeom>
          <a:solidFill>
            <a:srgbClr val="4A5C72"/>
          </a:solidFill>
          <a:ln/>
        </p:spPr>
      </p:sp>
      <p:sp>
        <p:nvSpPr>
          <p:cNvPr id="16" name="Text 14"/>
          <p:cNvSpPr/>
          <p:nvPr/>
        </p:nvSpPr>
        <p:spPr>
          <a:xfrm>
            <a:off x="4903470" y="2148840"/>
            <a:ext cx="131445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· Indicadores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492240" y="1874520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ENTREGÁVEIS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492240" y="2148840"/>
            <a:ext cx="5148072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29400" y="2221992"/>
            <a:ext cx="4919472" cy="12435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01600" indent="-101600">
              <a:lnSpc>
                <a:spcPts val="1050"/>
              </a:lnSpc>
              <a:buSzPct val="100000"/>
              <a:buChar char="•"/>
            </a:pPr>
            <a:r>
              <a:rPr lang="en-US" sz="8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Portfólio priorizado de iniciativas</a:t>
            </a:r>
            <a:endParaRPr lang="en-US" sz="800" dirty="0"/>
          </a:p>
          <a:p>
            <a:pPr marL="101600" indent="-101600">
              <a:lnSpc>
                <a:spcPts val="1050"/>
              </a:lnSpc>
              <a:buSzPct val="100000"/>
              <a:buChar char="•"/>
            </a:pPr>
            <a:r>
              <a:rPr lang="en-US" sz="8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Metodologia de gestão de projetos (ciclo de vida + templates)</a:t>
            </a:r>
            <a:endParaRPr lang="en-US" sz="800" dirty="0"/>
          </a:p>
          <a:p>
            <a:pPr marL="101600" indent="-101600">
              <a:lnSpc>
                <a:spcPts val="1050"/>
              </a:lnSpc>
              <a:buSzPct val="100000"/>
              <a:buChar char="•"/>
            </a:pPr>
            <a:r>
              <a:rPr lang="en-US" sz="8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Mapa e redesenho de processos críticos</a:t>
            </a:r>
            <a:endParaRPr lang="en-US" sz="800" dirty="0"/>
          </a:p>
          <a:p>
            <a:pPr marL="101600" indent="-101600">
              <a:lnSpc>
                <a:spcPts val="1050"/>
              </a:lnSpc>
              <a:buSzPct val="100000"/>
              <a:buChar char="•"/>
            </a:pPr>
            <a:r>
              <a:rPr lang="en-US" sz="8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Modelo de governança (ritos, alçadas e comitês)</a:t>
            </a:r>
            <a:endParaRPr lang="en-US" sz="800" dirty="0"/>
          </a:p>
          <a:p>
            <a:pPr marL="101600" indent="-101600">
              <a:lnSpc>
                <a:spcPts val="1050"/>
              </a:lnSpc>
              <a:buSzPct val="100000"/>
              <a:buChar char="•"/>
            </a:pPr>
            <a:r>
              <a:rPr lang="en-US" sz="8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Painel de indicadores de entrega</a:t>
            </a:r>
            <a:endParaRPr lang="en-US" sz="800" dirty="0"/>
          </a:p>
          <a:p>
            <a:pPr marL="101600" indent="-101600">
              <a:lnSpc>
                <a:spcPts val="1050"/>
              </a:lnSpc>
              <a:buSzPct val="100000"/>
              <a:buChar char="•"/>
            </a:pPr>
            <a:r>
              <a:rPr lang="en-US" sz="8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Modelo de gestão de riscos e mudanças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548640" y="3611880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DIMENSÕES DO FRAMEWORK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48640" y="3886200"/>
            <a:ext cx="2635758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8368" y="3959352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01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58368" y="4233672"/>
            <a:ext cx="24163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Estratégia &amp; Portfólio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58368" y="4507992"/>
            <a:ext cx="241630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Seleção e priorização de iniciativas conectadas à estratégia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3367278" y="3886200"/>
            <a:ext cx="2635758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477006" y="3959352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02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477006" y="4233672"/>
            <a:ext cx="24163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Metodologia &amp; Métodos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3477006" y="4507992"/>
            <a:ext cx="241630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Ciclo de vida, práticas e templates de gestão de projetos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6185916" y="3886200"/>
            <a:ext cx="2635758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295644" y="3959352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03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295644" y="4233672"/>
            <a:ext cx="24163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Processos &amp; Fluxos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295644" y="4507992"/>
            <a:ext cx="241630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Mapeamento, redesenho e padronização de processos de negócio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9004554" y="3886200"/>
            <a:ext cx="2635758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114282" y="3959352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04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9114282" y="4233672"/>
            <a:ext cx="24163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Governança &amp; Papéis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9114282" y="4507992"/>
            <a:ext cx="241630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Ritos, alçadas, comitês e papéis de decisão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548640" y="5166360"/>
            <a:ext cx="2635758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58368" y="5239512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05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58368" y="5513832"/>
            <a:ext cx="24163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Indicadores &amp; Desempenho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658368" y="5788152"/>
            <a:ext cx="241630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KPIs de entrega, painéis e rotina de gestão à vista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3367278" y="5166360"/>
            <a:ext cx="2635758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477006" y="5239512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06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3477006" y="5513832"/>
            <a:ext cx="24163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Ferramentas &amp; Tecnologia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3477006" y="5788152"/>
            <a:ext cx="241630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Plataformas de gestão, automação e integração de dados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6185916" y="5166360"/>
            <a:ext cx="2635758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295644" y="5239512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07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6295644" y="5513832"/>
            <a:ext cx="24163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Pessoas &amp; Competências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6295644" y="5788152"/>
            <a:ext cx="241630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Capacidades do time de projetos e trilhas de desenvolvimento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9004554" y="5166360"/>
            <a:ext cx="2635758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9114282" y="5239512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08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9114282" y="5513832"/>
            <a:ext cx="24163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Riscos &amp; Qualidade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9114282" y="5788152"/>
            <a:ext cx="241630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Gestão de riscos, mudanças de escopo e garantia de qualidade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</a:t>
            </a:r>
            <a:pPr indent="0" marL="0">
              <a:buNone/>
            </a:pPr>
            <a:r>
              <a:rPr lang="en-US" sz="1000" b="1" spc="4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EPP · BLOCO B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Roadmap — iniciativas por nível de maturidade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11064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Jornada de evolução, não lista de serviços: o assessment aponta a coluna atual; a seguinte é o plano recomendado.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Metodologia Governança, Projetos e Mudança  ·  material interno e exclusivo Obliant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DIGITAL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48640" y="1920240"/>
            <a:ext cx="2086661" cy="4160520"/>
          </a:xfrm>
          <a:prstGeom prst="roundRect">
            <a:avLst>
              <a:gd name="adj" fmla="val 2629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1920240"/>
            <a:ext cx="2086661" cy="566928"/>
          </a:xfrm>
          <a:prstGeom prst="rect">
            <a:avLst/>
          </a:prstGeom>
          <a:solidFill>
            <a:srgbClr val="EDF0F4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965960"/>
            <a:ext cx="186720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NÍVEL 1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58368" y="2148840"/>
            <a:ext cx="186720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Inicial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76656" y="2852928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13" name="Text 11"/>
          <p:cNvSpPr/>
          <p:nvPr/>
        </p:nvSpPr>
        <p:spPr>
          <a:xfrm>
            <a:off x="804672" y="2624328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Inventário de projetos e processos existentes</a:t>
            </a:r>
            <a:endParaRPr lang="en-US" sz="760" dirty="0"/>
          </a:p>
        </p:txBody>
      </p:sp>
      <p:sp>
        <p:nvSpPr>
          <p:cNvPr id="14" name="Shape 12"/>
          <p:cNvSpPr/>
          <p:nvPr/>
        </p:nvSpPr>
        <p:spPr>
          <a:xfrm>
            <a:off x="676656" y="3419856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15" name="Text 13"/>
          <p:cNvSpPr/>
          <p:nvPr/>
        </p:nvSpPr>
        <p:spPr>
          <a:xfrm>
            <a:off x="804672" y="3191256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Definição de patrocínio e papéis mínimos de gestão</a:t>
            </a:r>
            <a:endParaRPr lang="en-US" sz="760" dirty="0"/>
          </a:p>
        </p:txBody>
      </p:sp>
      <p:sp>
        <p:nvSpPr>
          <p:cNvPr id="16" name="Shape 14"/>
          <p:cNvSpPr/>
          <p:nvPr/>
        </p:nvSpPr>
        <p:spPr>
          <a:xfrm>
            <a:off x="676656" y="3986784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17" name="Text 15"/>
          <p:cNvSpPr/>
          <p:nvPr/>
        </p:nvSpPr>
        <p:spPr>
          <a:xfrm>
            <a:off x="804672" y="3758184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Padrão único de status report para iniciativas prioritárias</a:t>
            </a:r>
            <a:endParaRPr lang="en-US" sz="760" dirty="0"/>
          </a:p>
        </p:txBody>
      </p:sp>
      <p:sp>
        <p:nvSpPr>
          <p:cNvPr id="18" name="Shape 16"/>
          <p:cNvSpPr/>
          <p:nvPr/>
        </p:nvSpPr>
        <p:spPr>
          <a:xfrm>
            <a:off x="676656" y="4553712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19" name="Text 17"/>
          <p:cNvSpPr/>
          <p:nvPr/>
        </p:nvSpPr>
        <p:spPr>
          <a:xfrm>
            <a:off x="804672" y="4325112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Quick wins de padronização (templates essenciais)</a:t>
            </a:r>
            <a:endParaRPr lang="en-US" sz="760" dirty="0"/>
          </a:p>
        </p:txBody>
      </p:sp>
      <p:sp>
        <p:nvSpPr>
          <p:cNvPr id="20" name="Shape 18"/>
          <p:cNvSpPr/>
          <p:nvPr/>
        </p:nvSpPr>
        <p:spPr>
          <a:xfrm>
            <a:off x="676656" y="5120640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21" name="Text 19"/>
          <p:cNvSpPr/>
          <p:nvPr/>
        </p:nvSpPr>
        <p:spPr>
          <a:xfrm>
            <a:off x="804672" y="4892040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Canvas de escopo para os projetos críticos</a:t>
            </a:r>
            <a:endParaRPr lang="en-US" sz="760" dirty="0"/>
          </a:p>
        </p:txBody>
      </p:sp>
      <p:sp>
        <p:nvSpPr>
          <p:cNvPr id="22" name="Shape 20"/>
          <p:cNvSpPr/>
          <p:nvPr/>
        </p:nvSpPr>
        <p:spPr>
          <a:xfrm>
            <a:off x="2799893" y="1920240"/>
            <a:ext cx="2086661" cy="4160520"/>
          </a:xfrm>
          <a:prstGeom prst="roundRect">
            <a:avLst>
              <a:gd name="adj" fmla="val 2629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799893" y="1920240"/>
            <a:ext cx="2086661" cy="566928"/>
          </a:xfrm>
          <a:prstGeom prst="rect">
            <a:avLst/>
          </a:prstGeom>
          <a:solidFill>
            <a:srgbClr val="EDF0F4"/>
          </a:solidFill>
          <a:ln/>
        </p:spPr>
      </p:sp>
      <p:sp>
        <p:nvSpPr>
          <p:cNvPr id="24" name="Text 22"/>
          <p:cNvSpPr/>
          <p:nvPr/>
        </p:nvSpPr>
        <p:spPr>
          <a:xfrm>
            <a:off x="2909621" y="1965960"/>
            <a:ext cx="186720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NÍVEL 2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909621" y="2148840"/>
            <a:ext cx="186720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Emergente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927909" y="2852928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27" name="Text 25"/>
          <p:cNvSpPr/>
          <p:nvPr/>
        </p:nvSpPr>
        <p:spPr>
          <a:xfrm>
            <a:off x="3055925" y="2624328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Metodologia básica de projetos (ciclo de vida em fases)</a:t>
            </a:r>
            <a:endParaRPr lang="en-US" sz="760" dirty="0"/>
          </a:p>
        </p:txBody>
      </p:sp>
      <p:sp>
        <p:nvSpPr>
          <p:cNvPr id="28" name="Shape 26"/>
          <p:cNvSpPr/>
          <p:nvPr/>
        </p:nvSpPr>
        <p:spPr>
          <a:xfrm>
            <a:off x="2927909" y="3419856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29" name="Text 27"/>
          <p:cNvSpPr/>
          <p:nvPr/>
        </p:nvSpPr>
        <p:spPr>
          <a:xfrm>
            <a:off x="3055925" y="3191256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de templates: TAP, cronograma, matriz de riscos, status report</a:t>
            </a:r>
            <a:endParaRPr lang="en-US" sz="760" dirty="0"/>
          </a:p>
        </p:txBody>
      </p:sp>
      <p:sp>
        <p:nvSpPr>
          <p:cNvPr id="30" name="Shape 28"/>
          <p:cNvSpPr/>
          <p:nvPr/>
        </p:nvSpPr>
        <p:spPr>
          <a:xfrm>
            <a:off x="2927909" y="3986784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31" name="Text 29"/>
          <p:cNvSpPr/>
          <p:nvPr/>
        </p:nvSpPr>
        <p:spPr>
          <a:xfrm>
            <a:off x="3055925" y="3758184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Ritos de acompanhamento (reunião de status e comitê mensal)</a:t>
            </a:r>
            <a:endParaRPr lang="en-US" sz="760" dirty="0"/>
          </a:p>
        </p:txBody>
      </p:sp>
      <p:sp>
        <p:nvSpPr>
          <p:cNvPr id="32" name="Shape 30"/>
          <p:cNvSpPr/>
          <p:nvPr/>
        </p:nvSpPr>
        <p:spPr>
          <a:xfrm>
            <a:off x="2927909" y="4553712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33" name="Text 31"/>
          <p:cNvSpPr/>
          <p:nvPr/>
        </p:nvSpPr>
        <p:spPr>
          <a:xfrm>
            <a:off x="3055925" y="4325112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Mapeamento dos processos críticos (AS-IS)</a:t>
            </a:r>
            <a:endParaRPr lang="en-US" sz="760" dirty="0"/>
          </a:p>
        </p:txBody>
      </p:sp>
      <p:sp>
        <p:nvSpPr>
          <p:cNvPr id="34" name="Shape 32"/>
          <p:cNvSpPr/>
          <p:nvPr/>
        </p:nvSpPr>
        <p:spPr>
          <a:xfrm>
            <a:off x="2927909" y="5120640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35" name="Text 33"/>
          <p:cNvSpPr/>
          <p:nvPr/>
        </p:nvSpPr>
        <p:spPr>
          <a:xfrm>
            <a:off x="3055925" y="4892040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Indicadores essenciais de prazo e custo por projeto</a:t>
            </a:r>
            <a:endParaRPr lang="en-US" sz="760" dirty="0"/>
          </a:p>
        </p:txBody>
      </p:sp>
      <p:sp>
        <p:nvSpPr>
          <p:cNvPr id="36" name="Shape 34"/>
          <p:cNvSpPr/>
          <p:nvPr/>
        </p:nvSpPr>
        <p:spPr>
          <a:xfrm>
            <a:off x="5051146" y="1920240"/>
            <a:ext cx="2086661" cy="4160520"/>
          </a:xfrm>
          <a:prstGeom prst="roundRect">
            <a:avLst>
              <a:gd name="adj" fmla="val 2629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051146" y="1920240"/>
            <a:ext cx="2086661" cy="566928"/>
          </a:xfrm>
          <a:prstGeom prst="rect">
            <a:avLst/>
          </a:prstGeom>
          <a:solidFill>
            <a:srgbClr val="4A5C72"/>
          </a:solidFill>
          <a:ln/>
        </p:spPr>
      </p:sp>
      <p:sp>
        <p:nvSpPr>
          <p:cNvPr id="38" name="Text 36"/>
          <p:cNvSpPr/>
          <p:nvPr/>
        </p:nvSpPr>
        <p:spPr>
          <a:xfrm>
            <a:off x="5160874" y="1965960"/>
            <a:ext cx="186720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NÍVEL 3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5160874" y="2148840"/>
            <a:ext cx="186720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DF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Estruturado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5179162" y="2852928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41" name="Text 39"/>
          <p:cNvSpPr/>
          <p:nvPr/>
        </p:nvSpPr>
        <p:spPr>
          <a:xfrm>
            <a:off x="5307178" y="2624328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Gestão de portfólio com critérios de priorização</a:t>
            </a:r>
            <a:endParaRPr lang="en-US" sz="760" dirty="0"/>
          </a:p>
        </p:txBody>
      </p:sp>
      <p:sp>
        <p:nvSpPr>
          <p:cNvPr id="42" name="Shape 40"/>
          <p:cNvSpPr/>
          <p:nvPr/>
        </p:nvSpPr>
        <p:spPr>
          <a:xfrm>
            <a:off x="5179162" y="3419856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43" name="Text 41"/>
          <p:cNvSpPr/>
          <p:nvPr/>
        </p:nvSpPr>
        <p:spPr>
          <a:xfrm>
            <a:off x="5307178" y="3191256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Formalização do PMO (mandato, time e cadência)</a:t>
            </a:r>
            <a:endParaRPr lang="en-US" sz="760" dirty="0"/>
          </a:p>
        </p:txBody>
      </p:sp>
      <p:sp>
        <p:nvSpPr>
          <p:cNvPr id="44" name="Shape 42"/>
          <p:cNvSpPr/>
          <p:nvPr/>
        </p:nvSpPr>
        <p:spPr>
          <a:xfrm>
            <a:off x="5179162" y="3986784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45" name="Text 43"/>
          <p:cNvSpPr/>
          <p:nvPr/>
        </p:nvSpPr>
        <p:spPr>
          <a:xfrm>
            <a:off x="5307178" y="3758184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Gestão estruturada de riscos e mudanças de escopo</a:t>
            </a:r>
            <a:endParaRPr lang="en-US" sz="760" dirty="0"/>
          </a:p>
        </p:txBody>
      </p:sp>
      <p:sp>
        <p:nvSpPr>
          <p:cNvPr id="46" name="Shape 44"/>
          <p:cNvSpPr/>
          <p:nvPr/>
        </p:nvSpPr>
        <p:spPr>
          <a:xfrm>
            <a:off x="5179162" y="4553712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47" name="Text 45"/>
          <p:cNvSpPr/>
          <p:nvPr/>
        </p:nvSpPr>
        <p:spPr>
          <a:xfrm>
            <a:off x="5307178" y="4325112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Redesenho dos processos críticos (TO-BE) com donos definidos</a:t>
            </a:r>
            <a:endParaRPr lang="en-US" sz="760" dirty="0"/>
          </a:p>
        </p:txBody>
      </p:sp>
      <p:sp>
        <p:nvSpPr>
          <p:cNvPr id="48" name="Shape 46"/>
          <p:cNvSpPr/>
          <p:nvPr/>
        </p:nvSpPr>
        <p:spPr>
          <a:xfrm>
            <a:off x="5179162" y="5120640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49" name="Text 47"/>
          <p:cNvSpPr/>
          <p:nvPr/>
        </p:nvSpPr>
        <p:spPr>
          <a:xfrm>
            <a:off x="5307178" y="4892040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Painel executivo de indicadores de entrega</a:t>
            </a:r>
            <a:endParaRPr lang="en-US" sz="760" dirty="0"/>
          </a:p>
        </p:txBody>
      </p:sp>
      <p:sp>
        <p:nvSpPr>
          <p:cNvPr id="50" name="Shape 48"/>
          <p:cNvSpPr/>
          <p:nvPr/>
        </p:nvSpPr>
        <p:spPr>
          <a:xfrm>
            <a:off x="7302398" y="1920240"/>
            <a:ext cx="2086661" cy="4160520"/>
          </a:xfrm>
          <a:prstGeom prst="roundRect">
            <a:avLst>
              <a:gd name="adj" fmla="val 2629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302398" y="1920240"/>
            <a:ext cx="2086661" cy="566928"/>
          </a:xfrm>
          <a:prstGeom prst="rect">
            <a:avLst/>
          </a:prstGeom>
          <a:solidFill>
            <a:srgbClr val="EDF0F4"/>
          </a:solidFill>
          <a:ln/>
        </p:spPr>
      </p:sp>
      <p:sp>
        <p:nvSpPr>
          <p:cNvPr id="52" name="Text 50"/>
          <p:cNvSpPr/>
          <p:nvPr/>
        </p:nvSpPr>
        <p:spPr>
          <a:xfrm>
            <a:off x="7412126" y="1965960"/>
            <a:ext cx="186720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NÍVEL 4</a:t>
            </a:r>
            <a:endParaRPr lang="en-US" sz="750" dirty="0"/>
          </a:p>
        </p:txBody>
      </p:sp>
      <p:sp>
        <p:nvSpPr>
          <p:cNvPr id="53" name="Text 51"/>
          <p:cNvSpPr/>
          <p:nvPr/>
        </p:nvSpPr>
        <p:spPr>
          <a:xfrm>
            <a:off x="7412126" y="2148840"/>
            <a:ext cx="186720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Integrado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7430414" y="2852928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55" name="Text 53"/>
          <p:cNvSpPr/>
          <p:nvPr/>
        </p:nvSpPr>
        <p:spPr>
          <a:xfrm>
            <a:off x="7558430" y="2624328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Integração portfólio ↔ orçamento e planejamento anual</a:t>
            </a:r>
            <a:endParaRPr lang="en-US" sz="760" dirty="0"/>
          </a:p>
        </p:txBody>
      </p:sp>
      <p:sp>
        <p:nvSpPr>
          <p:cNvPr id="56" name="Shape 54"/>
          <p:cNvSpPr/>
          <p:nvPr/>
        </p:nvSpPr>
        <p:spPr>
          <a:xfrm>
            <a:off x="7430414" y="3419856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57" name="Text 55"/>
          <p:cNvSpPr/>
          <p:nvPr/>
        </p:nvSpPr>
        <p:spPr>
          <a:xfrm>
            <a:off x="7558430" y="3191256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Gestão de capacidade e alocação de recursos</a:t>
            </a:r>
            <a:endParaRPr lang="en-US" sz="760" dirty="0"/>
          </a:p>
        </p:txBody>
      </p:sp>
      <p:sp>
        <p:nvSpPr>
          <p:cNvPr id="58" name="Shape 56"/>
          <p:cNvSpPr/>
          <p:nvPr/>
        </p:nvSpPr>
        <p:spPr>
          <a:xfrm>
            <a:off x="7430414" y="3986784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59" name="Text 57"/>
          <p:cNvSpPr/>
          <p:nvPr/>
        </p:nvSpPr>
        <p:spPr>
          <a:xfrm>
            <a:off x="7558430" y="3758184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Automação de fluxos de trabalho e coleta de indicadores</a:t>
            </a:r>
            <a:endParaRPr lang="en-US" sz="760" dirty="0"/>
          </a:p>
        </p:txBody>
      </p:sp>
      <p:sp>
        <p:nvSpPr>
          <p:cNvPr id="60" name="Shape 58"/>
          <p:cNvSpPr/>
          <p:nvPr/>
        </p:nvSpPr>
        <p:spPr>
          <a:xfrm>
            <a:off x="7430414" y="4553712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61" name="Text 59"/>
          <p:cNvSpPr/>
          <p:nvPr/>
        </p:nvSpPr>
        <p:spPr>
          <a:xfrm>
            <a:off x="7558430" y="4325112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Gestão de benefícios: metas de valor por iniciativa</a:t>
            </a:r>
            <a:endParaRPr lang="en-US" sz="760" dirty="0"/>
          </a:p>
        </p:txBody>
      </p:sp>
      <p:sp>
        <p:nvSpPr>
          <p:cNvPr id="62" name="Shape 60"/>
          <p:cNvSpPr/>
          <p:nvPr/>
        </p:nvSpPr>
        <p:spPr>
          <a:xfrm>
            <a:off x="7430414" y="5120640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63" name="Text 61"/>
          <p:cNvSpPr/>
          <p:nvPr/>
        </p:nvSpPr>
        <p:spPr>
          <a:xfrm>
            <a:off x="7558430" y="4892040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Auditorias periódicas de qualidade de método</a:t>
            </a:r>
            <a:endParaRPr lang="en-US" sz="760" dirty="0"/>
          </a:p>
        </p:txBody>
      </p:sp>
      <p:sp>
        <p:nvSpPr>
          <p:cNvPr id="64" name="Shape 62"/>
          <p:cNvSpPr/>
          <p:nvPr/>
        </p:nvSpPr>
        <p:spPr>
          <a:xfrm>
            <a:off x="9553651" y="1920240"/>
            <a:ext cx="2086661" cy="4160520"/>
          </a:xfrm>
          <a:prstGeom prst="roundRect">
            <a:avLst>
              <a:gd name="adj" fmla="val 2629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9553651" y="1920240"/>
            <a:ext cx="2086661" cy="566928"/>
          </a:xfrm>
          <a:prstGeom prst="rect">
            <a:avLst/>
          </a:prstGeom>
          <a:solidFill>
            <a:srgbClr val="EDF0F4"/>
          </a:solidFill>
          <a:ln/>
        </p:spPr>
      </p:sp>
      <p:sp>
        <p:nvSpPr>
          <p:cNvPr id="66" name="Text 64"/>
          <p:cNvSpPr/>
          <p:nvPr/>
        </p:nvSpPr>
        <p:spPr>
          <a:xfrm>
            <a:off x="9663379" y="1965960"/>
            <a:ext cx="186720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NÍVEL 5</a:t>
            </a:r>
            <a:endParaRPr lang="en-US" sz="750" dirty="0"/>
          </a:p>
        </p:txBody>
      </p:sp>
      <p:sp>
        <p:nvSpPr>
          <p:cNvPr id="67" name="Text 65"/>
          <p:cNvSpPr/>
          <p:nvPr/>
        </p:nvSpPr>
        <p:spPr>
          <a:xfrm>
            <a:off x="9663379" y="2148840"/>
            <a:ext cx="186720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Excelência</a:t>
            </a:r>
            <a:endParaRPr lang="en-US" sz="1300" dirty="0"/>
          </a:p>
        </p:txBody>
      </p:sp>
      <p:sp>
        <p:nvSpPr>
          <p:cNvPr id="68" name="Shape 66"/>
          <p:cNvSpPr/>
          <p:nvPr/>
        </p:nvSpPr>
        <p:spPr>
          <a:xfrm>
            <a:off x="9681667" y="2852928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69" name="Text 67"/>
          <p:cNvSpPr/>
          <p:nvPr/>
        </p:nvSpPr>
        <p:spPr>
          <a:xfrm>
            <a:off x="9809683" y="2624328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Gestão por valor: portfólio dirigido por benefícios realizados</a:t>
            </a:r>
            <a:endParaRPr lang="en-US" sz="760" dirty="0"/>
          </a:p>
        </p:txBody>
      </p:sp>
      <p:sp>
        <p:nvSpPr>
          <p:cNvPr id="70" name="Shape 68"/>
          <p:cNvSpPr/>
          <p:nvPr/>
        </p:nvSpPr>
        <p:spPr>
          <a:xfrm>
            <a:off x="9681667" y="3419856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71" name="Text 69"/>
          <p:cNvSpPr/>
          <p:nvPr/>
        </p:nvSpPr>
        <p:spPr>
          <a:xfrm>
            <a:off x="9809683" y="3191256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 preditivo de prazo, custo e risco</a:t>
            </a:r>
            <a:endParaRPr lang="en-US" sz="760" dirty="0"/>
          </a:p>
        </p:txBody>
      </p:sp>
      <p:sp>
        <p:nvSpPr>
          <p:cNvPr id="72" name="Shape 70"/>
          <p:cNvSpPr/>
          <p:nvPr/>
        </p:nvSpPr>
        <p:spPr>
          <a:xfrm>
            <a:off x="9681667" y="3986784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73" name="Text 71"/>
          <p:cNvSpPr/>
          <p:nvPr/>
        </p:nvSpPr>
        <p:spPr>
          <a:xfrm>
            <a:off x="9809683" y="3758184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Melhoria contínua institucionalizada do método</a:t>
            </a:r>
            <a:endParaRPr lang="en-US" sz="760" dirty="0"/>
          </a:p>
        </p:txBody>
      </p:sp>
      <p:sp>
        <p:nvSpPr>
          <p:cNvPr id="74" name="Shape 72"/>
          <p:cNvSpPr/>
          <p:nvPr/>
        </p:nvSpPr>
        <p:spPr>
          <a:xfrm>
            <a:off x="9681667" y="4553712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75" name="Text 73"/>
          <p:cNvSpPr/>
          <p:nvPr/>
        </p:nvSpPr>
        <p:spPr>
          <a:xfrm>
            <a:off x="9809683" y="4325112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Inovação de práticas (ágil, híbrido, IA aplicada à gestão)</a:t>
            </a:r>
            <a:endParaRPr lang="en-US" sz="760" dirty="0"/>
          </a:p>
        </p:txBody>
      </p:sp>
      <p:sp>
        <p:nvSpPr>
          <p:cNvPr id="76" name="Shape 74"/>
          <p:cNvSpPr/>
          <p:nvPr/>
        </p:nvSpPr>
        <p:spPr>
          <a:xfrm>
            <a:off x="9681667" y="5120640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77" name="Text 75"/>
          <p:cNvSpPr/>
          <p:nvPr/>
        </p:nvSpPr>
        <p:spPr>
          <a:xfrm>
            <a:off x="9809683" y="4892040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Benchmark externo e certificação de excelência</a:t>
            </a:r>
            <a:endParaRPr lang="en-US" sz="76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</a:t>
            </a:r>
            <a:pPr indent="0" marL="0">
              <a:buNone/>
            </a:pPr>
            <a:r>
              <a:rPr lang="en-US" sz="1000" b="1" spc="4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EPP · BLOCO C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Mapa de maturidade — régua única de 5 níveis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11064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mesma escala das três frentes: posicione o cliente aqui e leia o roadmap a partir do nível seguinte.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Metodologia Governança, Projetos e Mudança  ·  material interno e exclusivo Obliant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DIGITAL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48640" y="3703320"/>
            <a:ext cx="207203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3703320"/>
            <a:ext cx="2072030" cy="73152"/>
          </a:xfrm>
          <a:prstGeom prst="rect">
            <a:avLst/>
          </a:prstGeom>
          <a:solidFill>
            <a:srgbClr val="998D67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" y="3849624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676656" y="4325112"/>
            <a:ext cx="181599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Inicial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76656" y="4636008"/>
            <a:ext cx="181599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Práticas ad hoc, dependentes de pessoas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676656" y="5093208"/>
            <a:ext cx="1815998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Iniciativas conduzidas caso a caso, sem método comum. Resultados dependem de esforço individual; pouca visibilidade e previsibilidade.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2803550" y="3291840"/>
            <a:ext cx="2072030" cy="2331720"/>
          </a:xfrm>
          <a:prstGeom prst="roundRect">
            <a:avLst>
              <a:gd name="adj" fmla="val 2648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803550" y="3291840"/>
            <a:ext cx="2072030" cy="73152"/>
          </a:xfrm>
          <a:prstGeom prst="rect">
            <a:avLst/>
          </a:prstGeom>
          <a:solidFill>
            <a:srgbClr val="998D67"/>
          </a:solidFill>
          <a:ln/>
        </p:spPr>
      </p:sp>
      <p:sp>
        <p:nvSpPr>
          <p:cNvPr id="16" name="Text 14"/>
          <p:cNvSpPr/>
          <p:nvPr/>
        </p:nvSpPr>
        <p:spPr>
          <a:xfrm>
            <a:off x="2931566" y="3438144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2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2931566" y="3913632"/>
            <a:ext cx="181599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Emergente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2931566" y="4224528"/>
            <a:ext cx="181599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Primeiras práticas definidas, aplicação irregular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1566" y="4681728"/>
            <a:ext cx="1815998" cy="8138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Métodos e papéis básicos existem, mas a aplicação é inconsistente entre áreas e projetos. Padrões começam a se formar.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5058461" y="2880360"/>
            <a:ext cx="2072030" cy="2743200"/>
          </a:xfrm>
          <a:prstGeom prst="roundRect">
            <a:avLst>
              <a:gd name="adj" fmla="val 2648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58461" y="2880360"/>
            <a:ext cx="2072030" cy="73152"/>
          </a:xfrm>
          <a:prstGeom prst="rect">
            <a:avLst/>
          </a:prstGeom>
          <a:solidFill>
            <a:srgbClr val="998D67"/>
          </a:solidFill>
          <a:ln/>
        </p:spPr>
      </p:sp>
      <p:sp>
        <p:nvSpPr>
          <p:cNvPr id="22" name="Text 20"/>
          <p:cNvSpPr/>
          <p:nvPr/>
        </p:nvSpPr>
        <p:spPr>
          <a:xfrm>
            <a:off x="5186477" y="3026664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3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5186477" y="3502152"/>
            <a:ext cx="181599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Estruturado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186477" y="3813048"/>
            <a:ext cx="181599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Método padronizado e adotado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186477" y="4270248"/>
            <a:ext cx="1815998" cy="12252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Método único, papéis claros e ritos de governança operando. A organização executa de forma consistente e comparável.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7313371" y="2468880"/>
            <a:ext cx="2072030" cy="3154680"/>
          </a:xfrm>
          <a:prstGeom prst="roundRect">
            <a:avLst>
              <a:gd name="adj" fmla="val 2648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313371" y="2468880"/>
            <a:ext cx="2072030" cy="73152"/>
          </a:xfrm>
          <a:prstGeom prst="rect">
            <a:avLst/>
          </a:prstGeom>
          <a:solidFill>
            <a:srgbClr val="998D67"/>
          </a:solidFill>
          <a:ln/>
        </p:spPr>
      </p:sp>
      <p:sp>
        <p:nvSpPr>
          <p:cNvPr id="28" name="Text 26"/>
          <p:cNvSpPr/>
          <p:nvPr/>
        </p:nvSpPr>
        <p:spPr>
          <a:xfrm>
            <a:off x="7441387" y="2615184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4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7441387" y="3090672"/>
            <a:ext cx="181599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Integrado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441387" y="3401568"/>
            <a:ext cx="181599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Gestão integrada e orientada a dados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7441387" y="3858768"/>
            <a:ext cx="1815998" cy="1636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Disciplinas conectadas entre si e ao planejamento da organização. Decisões apoiadas por indicadores; capacidade e portfólio geridos em conjunto.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9568282" y="2057400"/>
            <a:ext cx="2072030" cy="3566160"/>
          </a:xfrm>
          <a:prstGeom prst="roundRect">
            <a:avLst>
              <a:gd name="adj" fmla="val 2648"/>
            </a:avLst>
          </a:prstGeom>
          <a:solidFill>
            <a:srgbClr val="4A5C72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568282" y="2057400"/>
            <a:ext cx="2072030" cy="73152"/>
          </a:xfrm>
          <a:prstGeom prst="rect">
            <a:avLst/>
          </a:prstGeom>
          <a:solidFill>
            <a:srgbClr val="998D67"/>
          </a:solidFill>
          <a:ln/>
        </p:spPr>
      </p:sp>
      <p:sp>
        <p:nvSpPr>
          <p:cNvPr id="34" name="Text 32"/>
          <p:cNvSpPr/>
          <p:nvPr/>
        </p:nvSpPr>
        <p:spPr>
          <a:xfrm>
            <a:off x="9696298" y="2203704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5</a:t>
            </a:r>
            <a:endParaRPr lang="en-US" sz="2400" dirty="0"/>
          </a:p>
        </p:txBody>
      </p:sp>
      <p:sp>
        <p:nvSpPr>
          <p:cNvPr id="35" name="Text 33"/>
          <p:cNvSpPr/>
          <p:nvPr/>
        </p:nvSpPr>
        <p:spPr>
          <a:xfrm>
            <a:off x="9696298" y="2679192"/>
            <a:ext cx="181599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DF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Excelência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9696298" y="2990088"/>
            <a:ext cx="181599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Melhoria contínua e valor estratégico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9696298" y="3447288"/>
            <a:ext cx="1815998" cy="2048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B9C3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disciplina é vantagem competitiva: melhoria contínua institucionalizada, análise preditiva e referência externa (benchmark).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</a:t>
            </a:r>
            <a:pPr indent="0" marL="0">
              <a:buNone/>
            </a:pPr>
            <a:r>
              <a:rPr lang="en-US" sz="1000" b="1" spc="4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EPP · BLOCO 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Assessment — fluxo do diagnóstico de maturidade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11064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Avalie cada dimensão de 1 (inexistente/ad hoc) a 5 (excelência). O resultado posiciona o cliente na régua e recomenda as iniciativas do próximo nível.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Metodologia Governança, Projetos e Mudança  ·  material interno e exclusivo Obliant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DIGITAL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2148840" cy="777240"/>
          </a:xfrm>
          <a:prstGeom prst="roundRect">
            <a:avLst>
              <a:gd name="adj" fmla="val 9412"/>
            </a:avLst>
          </a:prstGeom>
          <a:solidFill>
            <a:srgbClr val="4A5C72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196596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dimensões</a:t>
            </a:r>
            <a:endParaRPr lang="en-US" sz="10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avaliadas 1–5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770632" y="2130552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200400" y="1965960"/>
            <a:ext cx="2148840" cy="777240"/>
          </a:xfrm>
          <a:prstGeom prst="roundRect">
            <a:avLst>
              <a:gd name="adj" fmla="val 9412"/>
            </a:avLst>
          </a:prstGeom>
          <a:solidFill>
            <a:srgbClr val="4A5C72"/>
          </a:solidFill>
          <a:ln/>
        </p:spPr>
      </p:sp>
      <p:sp>
        <p:nvSpPr>
          <p:cNvPr id="12" name="Text 10"/>
          <p:cNvSpPr/>
          <p:nvPr/>
        </p:nvSpPr>
        <p:spPr>
          <a:xfrm>
            <a:off x="3200400" y="196596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Nível médio</a:t>
            </a:r>
            <a:endParaRPr lang="en-US" sz="10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 régua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422392" y="2130552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5852160" y="1965960"/>
            <a:ext cx="2148840" cy="777240"/>
          </a:xfrm>
          <a:prstGeom prst="roundRect">
            <a:avLst>
              <a:gd name="adj" fmla="val 9412"/>
            </a:avLst>
          </a:prstGeom>
          <a:solidFill>
            <a:srgbClr val="4A5C72"/>
          </a:solidFill>
          <a:ln/>
        </p:spPr>
      </p:sp>
      <p:sp>
        <p:nvSpPr>
          <p:cNvPr id="15" name="Text 13"/>
          <p:cNvSpPr/>
          <p:nvPr/>
        </p:nvSpPr>
        <p:spPr>
          <a:xfrm>
            <a:off x="5852160" y="196596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Detalhamento</a:t>
            </a:r>
            <a:endParaRPr lang="en-US" sz="10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por dimensão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074152" y="2130552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503920" y="1965960"/>
            <a:ext cx="2148840" cy="777240"/>
          </a:xfrm>
          <a:prstGeom prst="roundRect">
            <a:avLst>
              <a:gd name="adj" fmla="val 9412"/>
            </a:avLst>
          </a:prstGeom>
          <a:solidFill>
            <a:srgbClr val="998D67"/>
          </a:solidFill>
          <a:ln/>
        </p:spPr>
      </p:sp>
      <p:sp>
        <p:nvSpPr>
          <p:cNvPr id="18" name="Text 16"/>
          <p:cNvSpPr/>
          <p:nvPr/>
        </p:nvSpPr>
        <p:spPr>
          <a:xfrm>
            <a:off x="8503920" y="196596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Roadmap do</a:t>
            </a:r>
            <a:endParaRPr lang="en-US" sz="10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próximo nível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3108960"/>
            <a:ext cx="3575304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5800" y="3200400"/>
            <a:ext cx="33009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DIMENSÃO 1 · METODOLOGIA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85800" y="3456432"/>
            <a:ext cx="3300984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Existe um método único de gestão de projetos, com ciclo de vida e templates, aplicado de forma consistente?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306824" y="3108960"/>
            <a:ext cx="3575304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443984" y="3200400"/>
            <a:ext cx="33009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DIMENSÃO 2 · PORTFÓLIO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443984" y="3456432"/>
            <a:ext cx="3300984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 iniciativas são priorizadas com critérios claros e conectadas à estratégia?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8065008" y="3108960"/>
            <a:ext cx="3575304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02168" y="3200400"/>
            <a:ext cx="33009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DIMENSÃO 3 · PROCESSOS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02168" y="3456432"/>
            <a:ext cx="3300984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Os processos críticos estão mapeados, padronizados e têm donos definidos?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8640" y="4507992"/>
            <a:ext cx="3575304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800" y="4599432"/>
            <a:ext cx="33009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DIMENSÃO 4 · GOVERNANÇA &amp; PAPÉIS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685800" y="4855464"/>
            <a:ext cx="3300984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Ritos, comitês e alçadas de decisão funcionam com cadência e consequência?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306824" y="4507992"/>
            <a:ext cx="3575304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443984" y="4599432"/>
            <a:ext cx="33009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DIMENSÃO 5 · INDICADORES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443984" y="4855464"/>
            <a:ext cx="3300984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entrega é medida por indicadores confiáveis, usados de fato na tomada de decisão?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8065008" y="4507992"/>
            <a:ext cx="3575304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202168" y="4599432"/>
            <a:ext cx="33009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DIMENSÃO 6 · FERRAMENTAS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8202168" y="4855464"/>
            <a:ext cx="3300984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 plataformas de gestão sustentam o método e dão visibilidade integrada do portfólio?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</a:t>
            </a:r>
            <a:pPr indent="0" marL="0">
              <a:buNone/>
            </a:pPr>
            <a:r>
              <a:rPr lang="en-US" sz="1000" b="1" spc="4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EPP · BLOCO 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RACI — papéis e responsabilidades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11064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 Responsável · A Aprovador · C Consultado · I Informado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Metodologia Governança, Projetos e Mudança  ·  material interno e exclusivo Obliant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DIGITAL</a:t>
            </a:r>
            <a:endParaRPr lang="en-US" sz="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11091672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1395374"/>
                <a:gridCol w="1395374"/>
                <a:gridCol w="1395374"/>
                <a:gridCol w="1395374"/>
                <a:gridCol w="1395374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Atividade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Obliant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PMO (cliente)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Sponsor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Gestores de área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Equipes de projeto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E394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Desenho do método e do modelo de governança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8D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7A849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E394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Priorização do portfólio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8D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7A849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E394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Condução dos ritos de acompanhamento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7A849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E394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Mapeamento e redesenho de processos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8D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E394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Gestão de riscos e mudanças de escopo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8D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E394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Painel de indicadores e gestão à vista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7A849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7A849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E394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Evolução contínua do método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8D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7A849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4A5C7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</a:t>
            </a:r>
            <a:pPr indent="0" marL="0">
              <a:buNone/>
            </a:pPr>
            <a:r>
              <a:rPr lang="en-US" sz="1000" b="1" spc="4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828800"/>
            <a:ext cx="2743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02</a:t>
            </a:r>
            <a:endParaRPr lang="en-US" sz="8000" dirty="0"/>
          </a:p>
        </p:txBody>
      </p:sp>
      <p:sp>
        <p:nvSpPr>
          <p:cNvPr id="4" name="Text 2"/>
          <p:cNvSpPr/>
          <p:nvPr/>
        </p:nvSpPr>
        <p:spPr>
          <a:xfrm>
            <a:off x="548640" y="320040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FFFDF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GMO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548640" y="416052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Gestão da Mudança Organizacional  —  Adoção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4617720"/>
            <a:ext cx="8686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C3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Trata o lado humano da transformação — adoção e sustentação.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998D67"/>
          </a:solidFill>
          <a:ln/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</a:t>
            </a:r>
            <a:pPr indent="0" marL="0">
              <a:buNone/>
            </a:pPr>
            <a:r>
              <a:rPr lang="en-US" sz="1000" b="1" spc="4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GMO · BLOCO 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Framework — objetivo, pilares e entregáveis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11064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Garantir que as pessoas adotem e sustentem a transformação — reduzindo resistência e acelerando o retorno das iniciativas.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Metodologia Governança, Projetos e Mudança  ·  material interno e exclusivo Obliant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DIGITAL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48640" y="1874520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PILARES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2148840"/>
            <a:ext cx="1024128" cy="502920"/>
          </a:xfrm>
          <a:prstGeom prst="roundRect">
            <a:avLst>
              <a:gd name="adj" fmla="val 10909"/>
            </a:avLst>
          </a:prstGeom>
          <a:solidFill>
            <a:srgbClr val="4A5C72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148840"/>
            <a:ext cx="10241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· Diagnosticar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1709928" y="2148840"/>
            <a:ext cx="1024128" cy="502920"/>
          </a:xfrm>
          <a:prstGeom prst="roundRect">
            <a:avLst>
              <a:gd name="adj" fmla="val 10909"/>
            </a:avLst>
          </a:prstGeom>
          <a:solidFill>
            <a:srgbClr val="4A5C72"/>
          </a:solidFill>
          <a:ln/>
        </p:spPr>
      </p:sp>
      <p:sp>
        <p:nvSpPr>
          <p:cNvPr id="12" name="Text 10"/>
          <p:cNvSpPr/>
          <p:nvPr/>
        </p:nvSpPr>
        <p:spPr>
          <a:xfrm>
            <a:off x="1709928" y="2148840"/>
            <a:ext cx="10241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· Preparar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2871216" y="2148840"/>
            <a:ext cx="1024128" cy="502920"/>
          </a:xfrm>
          <a:prstGeom prst="roundRect">
            <a:avLst>
              <a:gd name="adj" fmla="val 10909"/>
            </a:avLst>
          </a:prstGeom>
          <a:solidFill>
            <a:srgbClr val="4A5C72"/>
          </a:solidFill>
          <a:ln/>
        </p:spPr>
      </p:sp>
      <p:sp>
        <p:nvSpPr>
          <p:cNvPr id="14" name="Text 12"/>
          <p:cNvSpPr/>
          <p:nvPr/>
        </p:nvSpPr>
        <p:spPr>
          <a:xfrm>
            <a:off x="2871216" y="2148840"/>
            <a:ext cx="10241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· Engajar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032504" y="2148840"/>
            <a:ext cx="1024128" cy="502920"/>
          </a:xfrm>
          <a:prstGeom prst="roundRect">
            <a:avLst>
              <a:gd name="adj" fmla="val 10909"/>
            </a:avLst>
          </a:prstGeom>
          <a:solidFill>
            <a:srgbClr val="4A5C72"/>
          </a:solidFill>
          <a:ln/>
        </p:spPr>
      </p:sp>
      <p:sp>
        <p:nvSpPr>
          <p:cNvPr id="16" name="Text 14"/>
          <p:cNvSpPr/>
          <p:nvPr/>
        </p:nvSpPr>
        <p:spPr>
          <a:xfrm>
            <a:off x="4032504" y="2148840"/>
            <a:ext cx="10241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· Capacitar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193792" y="2148840"/>
            <a:ext cx="1024128" cy="502920"/>
          </a:xfrm>
          <a:prstGeom prst="roundRect">
            <a:avLst>
              <a:gd name="adj" fmla="val 10909"/>
            </a:avLst>
          </a:prstGeom>
          <a:solidFill>
            <a:srgbClr val="4A5C72"/>
          </a:solidFill>
          <a:ln/>
        </p:spPr>
      </p:sp>
      <p:sp>
        <p:nvSpPr>
          <p:cNvPr id="18" name="Text 16"/>
          <p:cNvSpPr/>
          <p:nvPr/>
        </p:nvSpPr>
        <p:spPr>
          <a:xfrm>
            <a:off x="5193792" y="2148840"/>
            <a:ext cx="10241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· Sustentar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548640" y="2697480"/>
            <a:ext cx="5669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Base conceitual: ADKAR, Kotter, ACMP, SAP/Oracle OCM.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6492240" y="1874520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ENTREGÁVEIS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492240" y="2148840"/>
            <a:ext cx="5148072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29400" y="2221992"/>
            <a:ext cx="4919472" cy="12435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01600" indent="-101600">
              <a:lnSpc>
                <a:spcPts val="1050"/>
              </a:lnSpc>
              <a:buSzPct val="100000"/>
              <a:buChar char="•"/>
            </a:pPr>
            <a:r>
              <a:rPr lang="en-US" sz="8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 Readiness Assessment (prontidão para mudança)</a:t>
            </a:r>
            <a:endParaRPr lang="en-US" sz="800" dirty="0"/>
          </a:p>
          <a:p>
            <a:pPr marL="101600" indent="-101600">
              <a:lnSpc>
                <a:spcPts val="1050"/>
              </a:lnSpc>
              <a:buSzPct val="100000"/>
              <a:buChar char="•"/>
            </a:pPr>
            <a:r>
              <a:rPr lang="en-US" sz="8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Impact Assessment (avaliação de impactos organizacionais)</a:t>
            </a:r>
            <a:endParaRPr lang="en-US" sz="800" dirty="0"/>
          </a:p>
          <a:p>
            <a:pPr marL="101600" indent="-101600">
              <a:lnSpc>
                <a:spcPts val="1050"/>
              </a:lnSpc>
              <a:buSzPct val="100000"/>
              <a:buChar char="•"/>
            </a:pPr>
            <a:r>
              <a:rPr lang="en-US" sz="8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Estratégia de stakeholders &amp; plano de comunicação</a:t>
            </a:r>
            <a:endParaRPr lang="en-US" sz="800" dirty="0"/>
          </a:p>
          <a:p>
            <a:pPr marL="101600" indent="-101600">
              <a:lnSpc>
                <a:spcPts val="1050"/>
              </a:lnSpc>
              <a:buSzPct val="100000"/>
              <a:buChar char="•"/>
            </a:pPr>
            <a:r>
              <a:rPr lang="en-US" sz="8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Plano de capacitação e treinamento por perfil</a:t>
            </a:r>
            <a:endParaRPr lang="en-US" sz="800" dirty="0"/>
          </a:p>
          <a:p>
            <a:pPr marL="101600" indent="-101600">
              <a:lnSpc>
                <a:spcPts val="1050"/>
              </a:lnSpc>
              <a:buSzPct val="100000"/>
              <a:buChar char="•"/>
            </a:pPr>
            <a:r>
              <a:rPr lang="en-US" sz="8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Plano de gestão de resistências</a:t>
            </a:r>
            <a:endParaRPr lang="en-US" sz="800" dirty="0"/>
          </a:p>
          <a:p>
            <a:pPr marL="101600" indent="-101600">
              <a:lnSpc>
                <a:spcPts val="1050"/>
              </a:lnSpc>
              <a:buSzPct val="100000"/>
              <a:buChar char="•"/>
            </a:pPr>
            <a:r>
              <a:rPr lang="en-US" sz="8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Painel de métricas de adoção</a:t>
            </a:r>
            <a:endParaRPr lang="en-US" sz="800" dirty="0"/>
          </a:p>
          <a:p>
            <a:pPr marL="101600" indent="-101600">
              <a:lnSpc>
                <a:spcPts val="1050"/>
              </a:lnSpc>
              <a:buSzPct val="100000"/>
              <a:buChar char="•"/>
            </a:pPr>
            <a:r>
              <a:rPr lang="en-US" sz="8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Plano de sustentação e reforço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548640" y="3611880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DIMENSÕES DO FRAMEWORK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48640" y="3886200"/>
            <a:ext cx="2635758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8368" y="3959352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01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58368" y="4233672"/>
            <a:ext cx="24163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Patrocínio &amp; Liderança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658368" y="4507992"/>
            <a:ext cx="241630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Sponsors ativos e coalizão de líderes visíveis na mudança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3367278" y="3886200"/>
            <a:ext cx="2635758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477006" y="3959352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02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477006" y="4233672"/>
            <a:ext cx="24163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Prontidão para Mudança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3477006" y="4507992"/>
            <a:ext cx="241630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 readiness: histórico, cultura e disposição da organização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6185916" y="3886200"/>
            <a:ext cx="2635758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295644" y="3959352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03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295644" y="4233672"/>
            <a:ext cx="24163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Impactos Organizacionais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295644" y="4507992"/>
            <a:ext cx="241630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Impact assessment: o que muda para quem, em processo, sistema e papel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9004554" y="3886200"/>
            <a:ext cx="2635758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14282" y="3959352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04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9114282" y="4233672"/>
            <a:ext cx="24163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Stakeholders &amp; Comunicação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9114282" y="4507992"/>
            <a:ext cx="241630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Mapeamento de públicos e estratégia de comunicação segmentada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548640" y="5166360"/>
            <a:ext cx="2635758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8368" y="5239512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05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658368" y="5513832"/>
            <a:ext cx="24163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Capacitação &amp; Treinamento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658368" y="5788152"/>
            <a:ext cx="241630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Trilhas de treinamento por perfil e avaliação de aprendizagem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3367278" y="5166360"/>
            <a:ext cx="2635758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477006" y="5239512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06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3477006" y="5513832"/>
            <a:ext cx="24163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Gestão de Resistências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3477006" y="5788152"/>
            <a:ext cx="241630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Identificação, escuta e tratamento ativo de resistências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6185916" y="5166360"/>
            <a:ext cx="2635758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295644" y="5239512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07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6295644" y="5513832"/>
            <a:ext cx="24163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Métricas de Adoção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6295644" y="5788152"/>
            <a:ext cx="241630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Indicadores de uso, adesão e comportamento pós-implantação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9004554" y="5166360"/>
            <a:ext cx="2635758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114282" y="5239512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08</a:t>
            </a:r>
            <a:endParaRPr lang="en-US" sz="1400" dirty="0"/>
          </a:p>
        </p:txBody>
      </p:sp>
      <p:sp>
        <p:nvSpPr>
          <p:cNvPr id="54" name="Text 52"/>
          <p:cNvSpPr/>
          <p:nvPr/>
        </p:nvSpPr>
        <p:spPr>
          <a:xfrm>
            <a:off x="9114282" y="5513832"/>
            <a:ext cx="24163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Sustentação &amp; Reforço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9114282" y="5788152"/>
            <a:ext cx="241630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Mecanismos de reforço para a mudança não regredir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</a:t>
            </a:r>
            <a:pPr indent="0" marL="0">
              <a:buNone/>
            </a:pPr>
            <a:r>
              <a:rPr lang="en-US" sz="1000" b="1" spc="4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GMO · BLOCO B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Roadmap — iniciativas por nível de maturidade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11064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Jornada de evolução, não lista de serviços: o assessment aponta a coluna atual; a seguinte é o plano recomendado.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Metodologia Governança, Projetos e Mudança  ·  material interno e exclusivo Obliant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DIGITAL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48640" y="1920240"/>
            <a:ext cx="2086661" cy="4160520"/>
          </a:xfrm>
          <a:prstGeom prst="roundRect">
            <a:avLst>
              <a:gd name="adj" fmla="val 2629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1920240"/>
            <a:ext cx="2086661" cy="566928"/>
          </a:xfrm>
          <a:prstGeom prst="rect">
            <a:avLst/>
          </a:prstGeom>
          <a:solidFill>
            <a:srgbClr val="EDF0F4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965960"/>
            <a:ext cx="186720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NÍVEL 1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58368" y="2148840"/>
            <a:ext cx="186720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Inicial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76656" y="2852928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13" name="Text 11"/>
          <p:cNvSpPr/>
          <p:nvPr/>
        </p:nvSpPr>
        <p:spPr>
          <a:xfrm>
            <a:off x="804672" y="2624328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Mapeamento inicial de stakeholders e públicos impactados</a:t>
            </a:r>
            <a:endParaRPr lang="en-US" sz="760" dirty="0"/>
          </a:p>
        </p:txBody>
      </p:sp>
      <p:sp>
        <p:nvSpPr>
          <p:cNvPr id="14" name="Shape 12"/>
          <p:cNvSpPr/>
          <p:nvPr/>
        </p:nvSpPr>
        <p:spPr>
          <a:xfrm>
            <a:off x="676656" y="3419856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15" name="Text 13"/>
          <p:cNvSpPr/>
          <p:nvPr/>
        </p:nvSpPr>
        <p:spPr>
          <a:xfrm>
            <a:off x="804672" y="3191256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Avaliação de prontidão para mudança (change readiness)</a:t>
            </a:r>
            <a:endParaRPr lang="en-US" sz="760" dirty="0"/>
          </a:p>
        </p:txBody>
      </p:sp>
      <p:sp>
        <p:nvSpPr>
          <p:cNvPr id="16" name="Shape 14"/>
          <p:cNvSpPr/>
          <p:nvPr/>
        </p:nvSpPr>
        <p:spPr>
          <a:xfrm>
            <a:off x="676656" y="3986784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17" name="Text 15"/>
          <p:cNvSpPr/>
          <p:nvPr/>
        </p:nvSpPr>
        <p:spPr>
          <a:xfrm>
            <a:off x="804672" y="3758184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Alinhamento e ativação do patrocínio executivo</a:t>
            </a:r>
            <a:endParaRPr lang="en-US" sz="760" dirty="0"/>
          </a:p>
        </p:txBody>
      </p:sp>
      <p:sp>
        <p:nvSpPr>
          <p:cNvPr id="18" name="Shape 16"/>
          <p:cNvSpPr/>
          <p:nvPr/>
        </p:nvSpPr>
        <p:spPr>
          <a:xfrm>
            <a:off x="676656" y="4553712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19" name="Text 17"/>
          <p:cNvSpPr/>
          <p:nvPr/>
        </p:nvSpPr>
        <p:spPr>
          <a:xfrm>
            <a:off x="804672" y="4325112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Comunicação de partida (kick-off) da transformação</a:t>
            </a:r>
            <a:endParaRPr lang="en-US" sz="760" dirty="0"/>
          </a:p>
        </p:txBody>
      </p:sp>
      <p:sp>
        <p:nvSpPr>
          <p:cNvPr id="20" name="Shape 18"/>
          <p:cNvSpPr/>
          <p:nvPr/>
        </p:nvSpPr>
        <p:spPr>
          <a:xfrm>
            <a:off x="676656" y="5120640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21" name="Text 19"/>
          <p:cNvSpPr/>
          <p:nvPr/>
        </p:nvSpPr>
        <p:spPr>
          <a:xfrm>
            <a:off x="804672" y="4892040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Levantamento do histórico de mudanças da organização</a:t>
            </a:r>
            <a:endParaRPr lang="en-US" sz="760" dirty="0"/>
          </a:p>
        </p:txBody>
      </p:sp>
      <p:sp>
        <p:nvSpPr>
          <p:cNvPr id="22" name="Shape 20"/>
          <p:cNvSpPr/>
          <p:nvPr/>
        </p:nvSpPr>
        <p:spPr>
          <a:xfrm>
            <a:off x="2799893" y="1920240"/>
            <a:ext cx="2086661" cy="4160520"/>
          </a:xfrm>
          <a:prstGeom prst="roundRect">
            <a:avLst>
              <a:gd name="adj" fmla="val 2629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799893" y="1920240"/>
            <a:ext cx="2086661" cy="566928"/>
          </a:xfrm>
          <a:prstGeom prst="rect">
            <a:avLst/>
          </a:prstGeom>
          <a:solidFill>
            <a:srgbClr val="EDF0F4"/>
          </a:solidFill>
          <a:ln/>
        </p:spPr>
      </p:sp>
      <p:sp>
        <p:nvSpPr>
          <p:cNvPr id="24" name="Text 22"/>
          <p:cNvSpPr/>
          <p:nvPr/>
        </p:nvSpPr>
        <p:spPr>
          <a:xfrm>
            <a:off x="2909621" y="1965960"/>
            <a:ext cx="186720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NÍVEL 2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909621" y="2148840"/>
            <a:ext cx="186720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Emergente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927909" y="2852928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27" name="Text 25"/>
          <p:cNvSpPr/>
          <p:nvPr/>
        </p:nvSpPr>
        <p:spPr>
          <a:xfrm>
            <a:off x="3055925" y="2624328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Plano de comunicação estruturado por público e canal</a:t>
            </a:r>
            <a:endParaRPr lang="en-US" sz="760" dirty="0"/>
          </a:p>
        </p:txBody>
      </p:sp>
      <p:sp>
        <p:nvSpPr>
          <p:cNvPr id="28" name="Shape 26"/>
          <p:cNvSpPr/>
          <p:nvPr/>
        </p:nvSpPr>
        <p:spPr>
          <a:xfrm>
            <a:off x="2927909" y="3419856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29" name="Text 27"/>
          <p:cNvSpPr/>
          <p:nvPr/>
        </p:nvSpPr>
        <p:spPr>
          <a:xfrm>
            <a:off x="3055925" y="3191256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Avaliação de impactos organizacionais (impact assessment)</a:t>
            </a:r>
            <a:endParaRPr lang="en-US" sz="760" dirty="0"/>
          </a:p>
        </p:txBody>
      </p:sp>
      <p:sp>
        <p:nvSpPr>
          <p:cNvPr id="30" name="Shape 28"/>
          <p:cNvSpPr/>
          <p:nvPr/>
        </p:nvSpPr>
        <p:spPr>
          <a:xfrm>
            <a:off x="2927909" y="3986784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31" name="Text 29"/>
          <p:cNvSpPr/>
          <p:nvPr/>
        </p:nvSpPr>
        <p:spPr>
          <a:xfrm>
            <a:off x="3055925" y="3758184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Formação da rede de agentes de mudança</a:t>
            </a:r>
            <a:endParaRPr lang="en-US" sz="760" dirty="0"/>
          </a:p>
        </p:txBody>
      </p:sp>
      <p:sp>
        <p:nvSpPr>
          <p:cNvPr id="32" name="Shape 30"/>
          <p:cNvSpPr/>
          <p:nvPr/>
        </p:nvSpPr>
        <p:spPr>
          <a:xfrm>
            <a:off x="2927909" y="4553712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33" name="Text 31"/>
          <p:cNvSpPr/>
          <p:nvPr/>
        </p:nvSpPr>
        <p:spPr>
          <a:xfrm>
            <a:off x="3055925" y="4325112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Plano de engajamento de lideranças intermediárias</a:t>
            </a:r>
            <a:endParaRPr lang="en-US" sz="760" dirty="0"/>
          </a:p>
        </p:txBody>
      </p:sp>
      <p:sp>
        <p:nvSpPr>
          <p:cNvPr id="34" name="Shape 32"/>
          <p:cNvSpPr/>
          <p:nvPr/>
        </p:nvSpPr>
        <p:spPr>
          <a:xfrm>
            <a:off x="2927909" y="5120640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35" name="Text 33"/>
          <p:cNvSpPr/>
          <p:nvPr/>
        </p:nvSpPr>
        <p:spPr>
          <a:xfrm>
            <a:off x="3055925" y="4892040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Canais de escuta e FAQ vivos da transformação</a:t>
            </a:r>
            <a:endParaRPr lang="en-US" sz="760" dirty="0"/>
          </a:p>
        </p:txBody>
      </p:sp>
      <p:sp>
        <p:nvSpPr>
          <p:cNvPr id="36" name="Shape 34"/>
          <p:cNvSpPr/>
          <p:nvPr/>
        </p:nvSpPr>
        <p:spPr>
          <a:xfrm>
            <a:off x="5051146" y="1920240"/>
            <a:ext cx="2086661" cy="4160520"/>
          </a:xfrm>
          <a:prstGeom prst="roundRect">
            <a:avLst>
              <a:gd name="adj" fmla="val 2629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051146" y="1920240"/>
            <a:ext cx="2086661" cy="566928"/>
          </a:xfrm>
          <a:prstGeom prst="rect">
            <a:avLst/>
          </a:prstGeom>
          <a:solidFill>
            <a:srgbClr val="4A5C72"/>
          </a:solidFill>
          <a:ln/>
        </p:spPr>
      </p:sp>
      <p:sp>
        <p:nvSpPr>
          <p:cNvPr id="38" name="Text 36"/>
          <p:cNvSpPr/>
          <p:nvPr/>
        </p:nvSpPr>
        <p:spPr>
          <a:xfrm>
            <a:off x="5160874" y="1965960"/>
            <a:ext cx="186720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NÍVEL 3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5160874" y="2148840"/>
            <a:ext cx="186720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DF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Estruturado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5179162" y="2852928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41" name="Text 39"/>
          <p:cNvSpPr/>
          <p:nvPr/>
        </p:nvSpPr>
        <p:spPr>
          <a:xfrm>
            <a:off x="5307178" y="2624328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Estratégia integrada de stakeholders com plano por segmento</a:t>
            </a:r>
            <a:endParaRPr lang="en-US" sz="760" dirty="0"/>
          </a:p>
        </p:txBody>
      </p:sp>
      <p:sp>
        <p:nvSpPr>
          <p:cNvPr id="42" name="Shape 40"/>
          <p:cNvSpPr/>
          <p:nvPr/>
        </p:nvSpPr>
        <p:spPr>
          <a:xfrm>
            <a:off x="5179162" y="3419856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43" name="Text 41"/>
          <p:cNvSpPr/>
          <p:nvPr/>
        </p:nvSpPr>
        <p:spPr>
          <a:xfrm>
            <a:off x="5307178" y="3191256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Trilhas de capacitação por perfil e papel</a:t>
            </a:r>
            <a:endParaRPr lang="en-US" sz="760" dirty="0"/>
          </a:p>
        </p:txBody>
      </p:sp>
      <p:sp>
        <p:nvSpPr>
          <p:cNvPr id="44" name="Shape 42"/>
          <p:cNvSpPr/>
          <p:nvPr/>
        </p:nvSpPr>
        <p:spPr>
          <a:xfrm>
            <a:off x="5179162" y="3986784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45" name="Text 43"/>
          <p:cNvSpPr/>
          <p:nvPr/>
        </p:nvSpPr>
        <p:spPr>
          <a:xfrm>
            <a:off x="5307178" y="3758184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Gestão ativa de resistências (identificação e tratamento)</a:t>
            </a:r>
            <a:endParaRPr lang="en-US" sz="760" dirty="0"/>
          </a:p>
        </p:txBody>
      </p:sp>
      <p:sp>
        <p:nvSpPr>
          <p:cNvPr id="46" name="Shape 44"/>
          <p:cNvSpPr/>
          <p:nvPr/>
        </p:nvSpPr>
        <p:spPr>
          <a:xfrm>
            <a:off x="5179162" y="4553712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47" name="Text 45"/>
          <p:cNvSpPr/>
          <p:nvPr/>
        </p:nvSpPr>
        <p:spPr>
          <a:xfrm>
            <a:off x="5307178" y="4325112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Rituais de reforço com lideranças e times</a:t>
            </a:r>
            <a:endParaRPr lang="en-US" sz="760" dirty="0"/>
          </a:p>
        </p:txBody>
      </p:sp>
      <p:sp>
        <p:nvSpPr>
          <p:cNvPr id="48" name="Shape 46"/>
          <p:cNvSpPr/>
          <p:nvPr/>
        </p:nvSpPr>
        <p:spPr>
          <a:xfrm>
            <a:off x="5179162" y="5120640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49" name="Text 47"/>
          <p:cNvSpPr/>
          <p:nvPr/>
        </p:nvSpPr>
        <p:spPr>
          <a:xfrm>
            <a:off x="5307178" y="4892040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Pesquisa de pulso periódica de engajamento</a:t>
            </a:r>
            <a:endParaRPr lang="en-US" sz="760" dirty="0"/>
          </a:p>
        </p:txBody>
      </p:sp>
      <p:sp>
        <p:nvSpPr>
          <p:cNvPr id="50" name="Shape 48"/>
          <p:cNvSpPr/>
          <p:nvPr/>
        </p:nvSpPr>
        <p:spPr>
          <a:xfrm>
            <a:off x="7302398" y="1920240"/>
            <a:ext cx="2086661" cy="4160520"/>
          </a:xfrm>
          <a:prstGeom prst="roundRect">
            <a:avLst>
              <a:gd name="adj" fmla="val 2629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302398" y="1920240"/>
            <a:ext cx="2086661" cy="566928"/>
          </a:xfrm>
          <a:prstGeom prst="rect">
            <a:avLst/>
          </a:prstGeom>
          <a:solidFill>
            <a:srgbClr val="EDF0F4"/>
          </a:solidFill>
          <a:ln/>
        </p:spPr>
      </p:sp>
      <p:sp>
        <p:nvSpPr>
          <p:cNvPr id="52" name="Text 50"/>
          <p:cNvSpPr/>
          <p:nvPr/>
        </p:nvSpPr>
        <p:spPr>
          <a:xfrm>
            <a:off x="7412126" y="1965960"/>
            <a:ext cx="186720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NÍVEL 4</a:t>
            </a:r>
            <a:endParaRPr lang="en-US" sz="750" dirty="0"/>
          </a:p>
        </p:txBody>
      </p:sp>
      <p:sp>
        <p:nvSpPr>
          <p:cNvPr id="53" name="Text 51"/>
          <p:cNvSpPr/>
          <p:nvPr/>
        </p:nvSpPr>
        <p:spPr>
          <a:xfrm>
            <a:off x="7412126" y="2148840"/>
            <a:ext cx="186720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Integrado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7430414" y="2852928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55" name="Text 53"/>
          <p:cNvSpPr/>
          <p:nvPr/>
        </p:nvSpPr>
        <p:spPr>
          <a:xfrm>
            <a:off x="7558430" y="2624328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Métricas de adoção e uso integradas aos projetos (gates de adoção)</a:t>
            </a:r>
            <a:endParaRPr lang="en-US" sz="760" dirty="0"/>
          </a:p>
        </p:txBody>
      </p:sp>
      <p:sp>
        <p:nvSpPr>
          <p:cNvPr id="56" name="Shape 54"/>
          <p:cNvSpPr/>
          <p:nvPr/>
        </p:nvSpPr>
        <p:spPr>
          <a:xfrm>
            <a:off x="7430414" y="3419856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57" name="Text 55"/>
          <p:cNvSpPr/>
          <p:nvPr/>
        </p:nvSpPr>
        <p:spPr>
          <a:xfrm>
            <a:off x="7558430" y="3191256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Programa de champions e multiplicadores</a:t>
            </a:r>
            <a:endParaRPr lang="en-US" sz="760" dirty="0"/>
          </a:p>
        </p:txBody>
      </p:sp>
      <p:sp>
        <p:nvSpPr>
          <p:cNvPr id="58" name="Shape 56"/>
          <p:cNvSpPr/>
          <p:nvPr/>
        </p:nvSpPr>
        <p:spPr>
          <a:xfrm>
            <a:off x="7430414" y="3986784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59" name="Text 57"/>
          <p:cNvSpPr/>
          <p:nvPr/>
        </p:nvSpPr>
        <p:spPr>
          <a:xfrm>
            <a:off x="7558430" y="3758184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Painel de sustentação pós-implantação</a:t>
            </a:r>
            <a:endParaRPr lang="en-US" sz="760" dirty="0"/>
          </a:p>
        </p:txBody>
      </p:sp>
      <p:sp>
        <p:nvSpPr>
          <p:cNvPr id="60" name="Shape 58"/>
          <p:cNvSpPr/>
          <p:nvPr/>
        </p:nvSpPr>
        <p:spPr>
          <a:xfrm>
            <a:off x="7430414" y="4553712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61" name="Text 59"/>
          <p:cNvSpPr/>
          <p:nvPr/>
        </p:nvSpPr>
        <p:spPr>
          <a:xfrm>
            <a:off x="7558430" y="4325112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Ciclo de feedback estruturado com ajustes de rota</a:t>
            </a:r>
            <a:endParaRPr lang="en-US" sz="760" dirty="0"/>
          </a:p>
        </p:txBody>
      </p:sp>
      <p:sp>
        <p:nvSpPr>
          <p:cNvPr id="62" name="Shape 60"/>
          <p:cNvSpPr/>
          <p:nvPr/>
        </p:nvSpPr>
        <p:spPr>
          <a:xfrm>
            <a:off x="7430414" y="5120640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63" name="Text 61"/>
          <p:cNvSpPr/>
          <p:nvPr/>
        </p:nvSpPr>
        <p:spPr>
          <a:xfrm>
            <a:off x="7558430" y="4892040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Integração da GMO ao ciclo de vida de todo projeto</a:t>
            </a:r>
            <a:endParaRPr lang="en-US" sz="760" dirty="0"/>
          </a:p>
        </p:txBody>
      </p:sp>
      <p:sp>
        <p:nvSpPr>
          <p:cNvPr id="64" name="Shape 62"/>
          <p:cNvSpPr/>
          <p:nvPr/>
        </p:nvSpPr>
        <p:spPr>
          <a:xfrm>
            <a:off x="9553651" y="1920240"/>
            <a:ext cx="2086661" cy="4160520"/>
          </a:xfrm>
          <a:prstGeom prst="roundRect">
            <a:avLst>
              <a:gd name="adj" fmla="val 2629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9553651" y="1920240"/>
            <a:ext cx="2086661" cy="566928"/>
          </a:xfrm>
          <a:prstGeom prst="rect">
            <a:avLst/>
          </a:prstGeom>
          <a:solidFill>
            <a:srgbClr val="EDF0F4"/>
          </a:solidFill>
          <a:ln/>
        </p:spPr>
      </p:sp>
      <p:sp>
        <p:nvSpPr>
          <p:cNvPr id="66" name="Text 64"/>
          <p:cNvSpPr/>
          <p:nvPr/>
        </p:nvSpPr>
        <p:spPr>
          <a:xfrm>
            <a:off x="9663379" y="1965960"/>
            <a:ext cx="186720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NÍVEL 5</a:t>
            </a:r>
            <a:endParaRPr lang="en-US" sz="750" dirty="0"/>
          </a:p>
        </p:txBody>
      </p:sp>
      <p:sp>
        <p:nvSpPr>
          <p:cNvPr id="67" name="Text 65"/>
          <p:cNvSpPr/>
          <p:nvPr/>
        </p:nvSpPr>
        <p:spPr>
          <a:xfrm>
            <a:off x="9663379" y="2148840"/>
            <a:ext cx="186720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Excelência</a:t>
            </a:r>
            <a:endParaRPr lang="en-US" sz="1300" dirty="0"/>
          </a:p>
        </p:txBody>
      </p:sp>
      <p:sp>
        <p:nvSpPr>
          <p:cNvPr id="68" name="Shape 66"/>
          <p:cNvSpPr/>
          <p:nvPr/>
        </p:nvSpPr>
        <p:spPr>
          <a:xfrm>
            <a:off x="9681667" y="2852928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69" name="Text 67"/>
          <p:cNvSpPr/>
          <p:nvPr/>
        </p:nvSpPr>
        <p:spPr>
          <a:xfrm>
            <a:off x="9809683" y="2624328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Cultura de mudança contínua institucionalizada</a:t>
            </a:r>
            <a:endParaRPr lang="en-US" sz="760" dirty="0"/>
          </a:p>
        </p:txBody>
      </p:sp>
      <p:sp>
        <p:nvSpPr>
          <p:cNvPr id="70" name="Shape 68"/>
          <p:cNvSpPr/>
          <p:nvPr/>
        </p:nvSpPr>
        <p:spPr>
          <a:xfrm>
            <a:off x="9681667" y="3419856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71" name="Text 69"/>
          <p:cNvSpPr/>
          <p:nvPr/>
        </p:nvSpPr>
        <p:spPr>
          <a:xfrm>
            <a:off x="9809683" y="3191256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Capacidade interna de OCM formada e autônoma</a:t>
            </a:r>
            <a:endParaRPr lang="en-US" sz="760" dirty="0"/>
          </a:p>
        </p:txBody>
      </p:sp>
      <p:sp>
        <p:nvSpPr>
          <p:cNvPr id="72" name="Shape 70"/>
          <p:cNvSpPr/>
          <p:nvPr/>
        </p:nvSpPr>
        <p:spPr>
          <a:xfrm>
            <a:off x="9681667" y="3986784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73" name="Text 71"/>
          <p:cNvSpPr/>
          <p:nvPr/>
        </p:nvSpPr>
        <p:spPr>
          <a:xfrm>
            <a:off x="9809683" y="3758184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Análise preditiva de adoção e risco de regressão</a:t>
            </a:r>
            <a:endParaRPr lang="en-US" sz="760" dirty="0"/>
          </a:p>
        </p:txBody>
      </p:sp>
      <p:sp>
        <p:nvSpPr>
          <p:cNvPr id="74" name="Shape 72"/>
          <p:cNvSpPr/>
          <p:nvPr/>
        </p:nvSpPr>
        <p:spPr>
          <a:xfrm>
            <a:off x="9681667" y="4553712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75" name="Text 73"/>
          <p:cNvSpPr/>
          <p:nvPr/>
        </p:nvSpPr>
        <p:spPr>
          <a:xfrm>
            <a:off x="9809683" y="4325112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Comunidade de prática de gestão da mudança</a:t>
            </a:r>
            <a:endParaRPr lang="en-US" sz="760" dirty="0"/>
          </a:p>
        </p:txBody>
      </p:sp>
      <p:sp>
        <p:nvSpPr>
          <p:cNvPr id="76" name="Shape 74"/>
          <p:cNvSpPr/>
          <p:nvPr/>
        </p:nvSpPr>
        <p:spPr>
          <a:xfrm>
            <a:off x="9681667" y="5120640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77" name="Text 75"/>
          <p:cNvSpPr/>
          <p:nvPr/>
        </p:nvSpPr>
        <p:spPr>
          <a:xfrm>
            <a:off x="9809683" y="4892040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Melhoria contínua do método com benchmark externo</a:t>
            </a:r>
            <a:endParaRPr lang="en-US" sz="76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</a:t>
            </a:r>
            <a:pPr indent="0" marL="0">
              <a:buNone/>
            </a:pPr>
            <a:r>
              <a:rPr lang="en-US" sz="1000" b="1" spc="4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GMO · BLOCO C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Mapa de maturidade — régua única de 5 níveis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11064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mesma escala das três frentes: posicione o cliente aqui e leia o roadmap a partir do nível seguinte.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Metodologia Governança, Projetos e Mudança  ·  material interno e exclusivo Obliant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DIGITAL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48640" y="3703320"/>
            <a:ext cx="207203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3703320"/>
            <a:ext cx="2072030" cy="73152"/>
          </a:xfrm>
          <a:prstGeom prst="rect">
            <a:avLst/>
          </a:prstGeom>
          <a:solidFill>
            <a:srgbClr val="998D67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" y="3849624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676656" y="4325112"/>
            <a:ext cx="181599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Inicial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76656" y="4636008"/>
            <a:ext cx="181599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Práticas ad hoc, dependentes de pessoas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676656" y="5093208"/>
            <a:ext cx="1815998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Iniciativas conduzidas caso a caso, sem método comum. Resultados dependem de esforço individual; pouca visibilidade e previsibilidade.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2803550" y="3291840"/>
            <a:ext cx="2072030" cy="2331720"/>
          </a:xfrm>
          <a:prstGeom prst="roundRect">
            <a:avLst>
              <a:gd name="adj" fmla="val 2648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803550" y="3291840"/>
            <a:ext cx="2072030" cy="73152"/>
          </a:xfrm>
          <a:prstGeom prst="rect">
            <a:avLst/>
          </a:prstGeom>
          <a:solidFill>
            <a:srgbClr val="998D67"/>
          </a:solidFill>
          <a:ln/>
        </p:spPr>
      </p:sp>
      <p:sp>
        <p:nvSpPr>
          <p:cNvPr id="16" name="Text 14"/>
          <p:cNvSpPr/>
          <p:nvPr/>
        </p:nvSpPr>
        <p:spPr>
          <a:xfrm>
            <a:off x="2931566" y="3438144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2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2931566" y="3913632"/>
            <a:ext cx="181599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Emergente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2931566" y="4224528"/>
            <a:ext cx="181599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Primeiras práticas definidas, aplicação irregular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1566" y="4681728"/>
            <a:ext cx="1815998" cy="8138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Métodos e papéis básicos existem, mas a aplicação é inconsistente entre áreas e projetos. Padrões começam a se formar.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5058461" y="2880360"/>
            <a:ext cx="2072030" cy="2743200"/>
          </a:xfrm>
          <a:prstGeom prst="roundRect">
            <a:avLst>
              <a:gd name="adj" fmla="val 2648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58461" y="2880360"/>
            <a:ext cx="2072030" cy="73152"/>
          </a:xfrm>
          <a:prstGeom prst="rect">
            <a:avLst/>
          </a:prstGeom>
          <a:solidFill>
            <a:srgbClr val="998D67"/>
          </a:solidFill>
          <a:ln/>
        </p:spPr>
      </p:sp>
      <p:sp>
        <p:nvSpPr>
          <p:cNvPr id="22" name="Text 20"/>
          <p:cNvSpPr/>
          <p:nvPr/>
        </p:nvSpPr>
        <p:spPr>
          <a:xfrm>
            <a:off x="5186477" y="3026664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3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5186477" y="3502152"/>
            <a:ext cx="181599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Estruturado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186477" y="3813048"/>
            <a:ext cx="181599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Método padronizado e adotado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186477" y="4270248"/>
            <a:ext cx="1815998" cy="12252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Método único, papéis claros e ritos de governança operando. A organização executa de forma consistente e comparável.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7313371" y="2468880"/>
            <a:ext cx="2072030" cy="3154680"/>
          </a:xfrm>
          <a:prstGeom prst="roundRect">
            <a:avLst>
              <a:gd name="adj" fmla="val 2648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313371" y="2468880"/>
            <a:ext cx="2072030" cy="73152"/>
          </a:xfrm>
          <a:prstGeom prst="rect">
            <a:avLst/>
          </a:prstGeom>
          <a:solidFill>
            <a:srgbClr val="998D67"/>
          </a:solidFill>
          <a:ln/>
        </p:spPr>
      </p:sp>
      <p:sp>
        <p:nvSpPr>
          <p:cNvPr id="28" name="Text 26"/>
          <p:cNvSpPr/>
          <p:nvPr/>
        </p:nvSpPr>
        <p:spPr>
          <a:xfrm>
            <a:off x="7441387" y="2615184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4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7441387" y="3090672"/>
            <a:ext cx="181599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Integrado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441387" y="3401568"/>
            <a:ext cx="181599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Gestão integrada e orientada a dados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7441387" y="3858768"/>
            <a:ext cx="1815998" cy="1636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Disciplinas conectadas entre si e ao planejamento da organização. Decisões apoiadas por indicadores; capacidade e portfólio geridos em conjunto.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9568282" y="2057400"/>
            <a:ext cx="2072030" cy="3566160"/>
          </a:xfrm>
          <a:prstGeom prst="roundRect">
            <a:avLst>
              <a:gd name="adj" fmla="val 2648"/>
            </a:avLst>
          </a:prstGeom>
          <a:solidFill>
            <a:srgbClr val="4A5C72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568282" y="2057400"/>
            <a:ext cx="2072030" cy="73152"/>
          </a:xfrm>
          <a:prstGeom prst="rect">
            <a:avLst/>
          </a:prstGeom>
          <a:solidFill>
            <a:srgbClr val="998D67"/>
          </a:solidFill>
          <a:ln/>
        </p:spPr>
      </p:sp>
      <p:sp>
        <p:nvSpPr>
          <p:cNvPr id="34" name="Text 32"/>
          <p:cNvSpPr/>
          <p:nvPr/>
        </p:nvSpPr>
        <p:spPr>
          <a:xfrm>
            <a:off x="9696298" y="2203704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5</a:t>
            </a:r>
            <a:endParaRPr lang="en-US" sz="2400" dirty="0"/>
          </a:p>
        </p:txBody>
      </p:sp>
      <p:sp>
        <p:nvSpPr>
          <p:cNvPr id="35" name="Text 33"/>
          <p:cNvSpPr/>
          <p:nvPr/>
        </p:nvSpPr>
        <p:spPr>
          <a:xfrm>
            <a:off x="9696298" y="2679192"/>
            <a:ext cx="181599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DF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Excelência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9696298" y="2990088"/>
            <a:ext cx="181599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Melhoria contínua e valor estratégico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9696298" y="3447288"/>
            <a:ext cx="1815998" cy="2048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B9C3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disciplina é vantagem competitiva: melhoria contínua institucionalizada, análise preditiva e referência externa (benchmark).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</a:t>
            </a:r>
            <a:pPr indent="0" marL="0">
              <a:buNone/>
            </a:pPr>
            <a:r>
              <a:rPr lang="en-US" sz="1000" b="1" spc="4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GMO · BLOCO 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Assessment — fluxo do diagnóstico de maturidade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11064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Avalie cada dimensão de 1 (inexistente/ad hoc) a 5 (excelência). O resultado posiciona o cliente na régua e recomenda as iniciativas do próximo nível.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Metodologia Governança, Projetos e Mudança  ·  material interno e exclusivo Obliant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DIGITAL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2148840" cy="777240"/>
          </a:xfrm>
          <a:prstGeom prst="roundRect">
            <a:avLst>
              <a:gd name="adj" fmla="val 9412"/>
            </a:avLst>
          </a:prstGeom>
          <a:solidFill>
            <a:srgbClr val="4A5C72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196596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dimensões</a:t>
            </a:r>
            <a:endParaRPr lang="en-US" sz="10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avaliadas 1–5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770632" y="2130552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200400" y="1965960"/>
            <a:ext cx="2148840" cy="777240"/>
          </a:xfrm>
          <a:prstGeom prst="roundRect">
            <a:avLst>
              <a:gd name="adj" fmla="val 9412"/>
            </a:avLst>
          </a:prstGeom>
          <a:solidFill>
            <a:srgbClr val="4A5C72"/>
          </a:solidFill>
          <a:ln/>
        </p:spPr>
      </p:sp>
      <p:sp>
        <p:nvSpPr>
          <p:cNvPr id="12" name="Text 10"/>
          <p:cNvSpPr/>
          <p:nvPr/>
        </p:nvSpPr>
        <p:spPr>
          <a:xfrm>
            <a:off x="3200400" y="196596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Nível médio</a:t>
            </a:r>
            <a:endParaRPr lang="en-US" sz="10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 régua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422392" y="2130552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5852160" y="1965960"/>
            <a:ext cx="2148840" cy="777240"/>
          </a:xfrm>
          <a:prstGeom prst="roundRect">
            <a:avLst>
              <a:gd name="adj" fmla="val 9412"/>
            </a:avLst>
          </a:prstGeom>
          <a:solidFill>
            <a:srgbClr val="4A5C72"/>
          </a:solidFill>
          <a:ln/>
        </p:spPr>
      </p:sp>
      <p:sp>
        <p:nvSpPr>
          <p:cNvPr id="15" name="Text 13"/>
          <p:cNvSpPr/>
          <p:nvPr/>
        </p:nvSpPr>
        <p:spPr>
          <a:xfrm>
            <a:off x="5852160" y="196596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Detalhamento</a:t>
            </a:r>
            <a:endParaRPr lang="en-US" sz="10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por dimensão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074152" y="2130552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503920" y="1965960"/>
            <a:ext cx="2148840" cy="777240"/>
          </a:xfrm>
          <a:prstGeom prst="roundRect">
            <a:avLst>
              <a:gd name="adj" fmla="val 9412"/>
            </a:avLst>
          </a:prstGeom>
          <a:solidFill>
            <a:srgbClr val="998D67"/>
          </a:solidFill>
          <a:ln/>
        </p:spPr>
      </p:sp>
      <p:sp>
        <p:nvSpPr>
          <p:cNvPr id="18" name="Text 16"/>
          <p:cNvSpPr/>
          <p:nvPr/>
        </p:nvSpPr>
        <p:spPr>
          <a:xfrm>
            <a:off x="8503920" y="196596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Roadmap do</a:t>
            </a:r>
            <a:endParaRPr lang="en-US" sz="10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próximo nível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3108960"/>
            <a:ext cx="3575304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5800" y="3200400"/>
            <a:ext cx="33009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DIMENSÃO 1 · PATROCÍNIO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85800" y="3456432"/>
            <a:ext cx="3300984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Os sponsors são ativos e visíveis, dedicando tempo real à mudança?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306824" y="3108960"/>
            <a:ext cx="3575304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443984" y="3200400"/>
            <a:ext cx="33009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DIMENSÃO 2 · COMUNICAÇÃO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443984" y="3456432"/>
            <a:ext cx="3300984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comunicação é planejada por público, com canais definidos e mensagem consistente?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8065008" y="3108960"/>
            <a:ext cx="3575304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02168" y="3200400"/>
            <a:ext cx="33009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DIMENSÃO 3 · IMPACTOS &amp; PRONTIDÃO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02168" y="3456432"/>
            <a:ext cx="3300984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Os impactos da mudança são avaliados formalmente e a prontidão da organização é conhecida?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8640" y="4507992"/>
            <a:ext cx="3575304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800" y="4599432"/>
            <a:ext cx="33009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DIMENSÃO 4 · CAPACITAÇÃO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685800" y="4855464"/>
            <a:ext cx="3300984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Existem trilhas de treinamento por perfil, com avaliação de aprendizagem?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306824" y="4507992"/>
            <a:ext cx="3575304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443984" y="4599432"/>
            <a:ext cx="33009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DIMENSÃO 5 · RESISTÊNCIAS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443984" y="4855464"/>
            <a:ext cx="3300984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 resistências são identificadas e tratadas de forma ativa e estruturada?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8065008" y="4507992"/>
            <a:ext cx="3575304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202168" y="4599432"/>
            <a:ext cx="33009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DIMENSÃO 6 · ADOÇÃO &amp; SUSTENTAÇÃO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8202168" y="4855464"/>
            <a:ext cx="3300984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adoção é medida após a implantação e existem mecanismos de reforço?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</a:t>
            </a:r>
            <a:pPr indent="0" marL="0">
              <a:buNone/>
            </a:pPr>
            <a:r>
              <a:rPr lang="en-US" sz="1000" b="1" spc="4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GMO · BLOCO 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RACI — papéis e responsabilidades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11064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 Responsável · A Aprovador · C Consultado · I Informado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Metodologia Governança, Projetos e Mudança  ·  material interno e exclusivo Obliant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DIGITAL</a:t>
            </a:r>
            <a:endParaRPr lang="en-US" sz="8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11091672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1395374"/>
                <a:gridCol w="1395374"/>
                <a:gridCol w="1395374"/>
                <a:gridCol w="1395374"/>
                <a:gridCol w="1395374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Atividade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Obliant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Time GMO (cliente)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Sponsor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Líderes / Gestores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Colaboradores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E394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Change readiness e avaliação de impactos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8D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7A849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E394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Estratégia de stakeholders e comunicação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8D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7A849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E394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Execução do plano de comunicação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7A849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7A849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E394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Capacitação e treinamento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7A849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E394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Gestão de resistências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8D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E394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Medição de adoção e sustentação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8D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7A849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E394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Ativação e coaching de sponsors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7A849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4A5C7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</a:t>
            </a:r>
            <a:pPr indent="0" marL="0">
              <a:buNone/>
            </a:pPr>
            <a:r>
              <a:rPr lang="en-US" sz="1000" b="1" spc="4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828800"/>
            <a:ext cx="2743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03</a:t>
            </a:r>
            <a:endParaRPr lang="en-US" sz="8000" dirty="0"/>
          </a:p>
        </p:txBody>
      </p:sp>
      <p:sp>
        <p:nvSpPr>
          <p:cNvPr id="4" name="Text 2"/>
          <p:cNvSpPr/>
          <p:nvPr/>
        </p:nvSpPr>
        <p:spPr>
          <a:xfrm>
            <a:off x="548640" y="320040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FFFDF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PM&amp;GO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548640" y="416052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Governança Integrada de Projetos e Mudança  —  Integração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4617720"/>
            <a:ext cx="8686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C3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 um projeto combinando EPP (entrega) + GMO (adoção).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998D67"/>
          </a:solidFill>
          <a:ln/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</a:t>
            </a:r>
            <a:pPr indent="0" marL="0">
              <a:buNone/>
            </a:pPr>
            <a:r>
              <a:rPr lang="en-US" sz="1000" b="1" spc="4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PM&amp;GO · BLOCO 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Framework — objetivo, pilares e entregáveis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11064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Governar um projeto crítico de ponta a ponta, unindo a disciplina de entrega (EPP) e a disciplina de adoção (GMO) sob uma única governança.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Metodologia Governança, Projetos e Mudança  ·  material interno e exclusivo Obliant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DIGITAL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48640" y="1874520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PILARES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2148840"/>
            <a:ext cx="1314450" cy="502920"/>
          </a:xfrm>
          <a:prstGeom prst="roundRect">
            <a:avLst>
              <a:gd name="adj" fmla="val 10909"/>
            </a:avLst>
          </a:prstGeom>
          <a:solidFill>
            <a:srgbClr val="4A5C72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148840"/>
            <a:ext cx="131445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· Entrega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000250" y="2148840"/>
            <a:ext cx="1314450" cy="502920"/>
          </a:xfrm>
          <a:prstGeom prst="roundRect">
            <a:avLst>
              <a:gd name="adj" fmla="val 10909"/>
            </a:avLst>
          </a:prstGeom>
          <a:solidFill>
            <a:srgbClr val="4A5C72"/>
          </a:solidFill>
          <a:ln/>
        </p:spPr>
      </p:sp>
      <p:sp>
        <p:nvSpPr>
          <p:cNvPr id="12" name="Text 10"/>
          <p:cNvSpPr/>
          <p:nvPr/>
        </p:nvSpPr>
        <p:spPr>
          <a:xfrm>
            <a:off x="2000250" y="2148840"/>
            <a:ext cx="131445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· Adoção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451860" y="2148840"/>
            <a:ext cx="1314450" cy="502920"/>
          </a:xfrm>
          <a:prstGeom prst="roundRect">
            <a:avLst>
              <a:gd name="adj" fmla="val 10909"/>
            </a:avLst>
          </a:prstGeom>
          <a:solidFill>
            <a:srgbClr val="4A5C72"/>
          </a:solidFill>
          <a:ln/>
        </p:spPr>
      </p:sp>
      <p:sp>
        <p:nvSpPr>
          <p:cNvPr id="14" name="Text 12"/>
          <p:cNvSpPr/>
          <p:nvPr/>
        </p:nvSpPr>
        <p:spPr>
          <a:xfrm>
            <a:off x="3451860" y="2148840"/>
            <a:ext cx="131445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· Governança única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903470" y="2148840"/>
            <a:ext cx="1314450" cy="502920"/>
          </a:xfrm>
          <a:prstGeom prst="roundRect">
            <a:avLst>
              <a:gd name="adj" fmla="val 10909"/>
            </a:avLst>
          </a:prstGeom>
          <a:solidFill>
            <a:srgbClr val="4A5C72"/>
          </a:solidFill>
          <a:ln/>
        </p:spPr>
      </p:sp>
      <p:sp>
        <p:nvSpPr>
          <p:cNvPr id="16" name="Text 14"/>
          <p:cNvSpPr/>
          <p:nvPr/>
        </p:nvSpPr>
        <p:spPr>
          <a:xfrm>
            <a:off x="4903470" y="2148840"/>
            <a:ext cx="131445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· Modo de atuação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492240" y="1874520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ENTREGÁVEIS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492240" y="2148840"/>
            <a:ext cx="5148072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29400" y="2221992"/>
            <a:ext cx="4919472" cy="12435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01600" indent="-101600">
              <a:lnSpc>
                <a:spcPts val="1050"/>
              </a:lnSpc>
              <a:buSzPct val="100000"/>
              <a:buChar char="•"/>
            </a:pPr>
            <a:r>
              <a:rPr lang="en-US" sz="8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Modelo de governança integrada do projeto   [COMP.]</a:t>
            </a:r>
            <a:endParaRPr lang="en-US" sz="800" dirty="0"/>
          </a:p>
          <a:p>
            <a:pPr marL="101600" indent="-101600">
              <a:lnSpc>
                <a:spcPts val="1050"/>
              </a:lnSpc>
              <a:buSzPct val="100000"/>
              <a:buChar char="•"/>
            </a:pPr>
            <a:r>
              <a:rPr lang="en-US" sz="8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Plano integrado de projeto (escopo, prazo, custo)   [PMO]</a:t>
            </a:r>
            <a:endParaRPr lang="en-US" sz="800" dirty="0"/>
          </a:p>
          <a:p>
            <a:pPr marL="101600" indent="-101600">
              <a:lnSpc>
                <a:spcPts val="1050"/>
              </a:lnSpc>
              <a:buSzPct val="100000"/>
              <a:buChar char="•"/>
            </a:pPr>
            <a:r>
              <a:rPr lang="en-US" sz="8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Matriz integrada de riscos (entrega + adoção)   [COMP.]</a:t>
            </a:r>
            <a:endParaRPr lang="en-US" sz="800" dirty="0"/>
          </a:p>
          <a:p>
            <a:pPr marL="101600" indent="-101600">
              <a:lnSpc>
                <a:spcPts val="1050"/>
              </a:lnSpc>
              <a:buSzPct val="100000"/>
              <a:buChar char="•"/>
            </a:pPr>
            <a:r>
              <a:rPr lang="en-US" sz="8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Impact assessment e plano de adoção   [GMO]</a:t>
            </a:r>
            <a:endParaRPr lang="en-US" sz="800" dirty="0"/>
          </a:p>
          <a:p>
            <a:pPr marL="101600" indent="-101600">
              <a:lnSpc>
                <a:spcPts val="1050"/>
              </a:lnSpc>
              <a:buSzPct val="100000"/>
              <a:buChar char="•"/>
            </a:pPr>
            <a:r>
              <a:rPr lang="en-US" sz="8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Plano de comunicação e stakeholders do projeto   [GMO]</a:t>
            </a:r>
            <a:endParaRPr lang="en-US" sz="800" dirty="0"/>
          </a:p>
          <a:p>
            <a:pPr marL="101600" indent="-101600">
              <a:lnSpc>
                <a:spcPts val="1050"/>
              </a:lnSpc>
              <a:buSzPct val="100000"/>
              <a:buChar char="•"/>
            </a:pPr>
            <a:r>
              <a:rPr lang="en-US" sz="8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Painel duplo: entrega × adoção   [COMP.]</a:t>
            </a:r>
            <a:endParaRPr lang="en-US" sz="800" dirty="0"/>
          </a:p>
          <a:p>
            <a:pPr marL="101600" indent="-101600">
              <a:lnSpc>
                <a:spcPts val="1050"/>
              </a:lnSpc>
              <a:buSzPct val="100000"/>
              <a:buChar char="•"/>
            </a:pPr>
            <a:r>
              <a:rPr lang="en-US" sz="8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Controle de escopo, cronograma e custos   [PMO]</a:t>
            </a:r>
            <a:endParaRPr lang="en-US" sz="800" dirty="0"/>
          </a:p>
          <a:p>
            <a:pPr marL="101600" indent="-101600">
              <a:lnSpc>
                <a:spcPts val="1050"/>
              </a:lnSpc>
              <a:buSzPct val="100000"/>
              <a:buChar char="•"/>
            </a:pPr>
            <a:r>
              <a:rPr lang="en-US" sz="8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Definição do modo de atuação (Suporte/Controle/Diretivo)   [COMP.]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548640" y="3611880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DIMENSÕES DO FRAMEWORK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48640" y="3886200"/>
            <a:ext cx="2635758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8368" y="3959352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01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58368" y="4233672"/>
            <a:ext cx="24163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Governança Integrada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58368" y="4507992"/>
            <a:ext cx="241630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Um único modelo de decisão para entrega e adoção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3367278" y="3886200"/>
            <a:ext cx="2635758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477006" y="3959352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02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477006" y="4233672"/>
            <a:ext cx="24163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Planejamento &amp; Entrega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3477006" y="4507992"/>
            <a:ext cx="241630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Escopo, prazo, custo e qualidade do projeto (lado EPP)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6185916" y="3886200"/>
            <a:ext cx="2635758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295644" y="3959352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03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295644" y="4233672"/>
            <a:ext cx="24163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Adoção &amp; Pessoas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295644" y="4507992"/>
            <a:ext cx="241630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Prontidão, engajamento e sustentação (lado GMO)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9004554" y="3886200"/>
            <a:ext cx="2635758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114282" y="3959352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04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9114282" y="4233672"/>
            <a:ext cx="24163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Patrocínio Executivo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9114282" y="4507992"/>
            <a:ext cx="241630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Sponsor único respondendo pelos dois eixos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548640" y="5166360"/>
            <a:ext cx="2635758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58368" y="5239512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05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58368" y="5513832"/>
            <a:ext cx="24163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Stakeholders &amp; Comunicação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658368" y="5788152"/>
            <a:ext cx="241630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Gestão compartilhada de públicos e mensagens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3367278" y="5166360"/>
            <a:ext cx="2635758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477006" y="5239512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06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3477006" y="5513832"/>
            <a:ext cx="24163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Riscos Integrados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3477006" y="5788152"/>
            <a:ext cx="241630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Riscos de entrega e riscos de adoção na mesma matriz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6185916" y="5166360"/>
            <a:ext cx="2635758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295644" y="5239512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07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6295644" y="5513832"/>
            <a:ext cx="24163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Indicadores Duplos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6295644" y="5788152"/>
            <a:ext cx="241630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Painel único: % de entrega × % de adoção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9004554" y="5166360"/>
            <a:ext cx="2635758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9114282" y="5239512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08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9114282" y="5513832"/>
            <a:ext cx="24163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Modo de Atuação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9114282" y="5788152"/>
            <a:ext cx="241630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Intensidade Obliant: Suporte, Controle ou Diretivo</a:t>
            </a:r>
            <a:endParaRPr lang="en-US" sz="7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</a:t>
            </a:r>
            <a:pPr indent="0" marL="0">
              <a:buNone/>
            </a:pPr>
            <a:r>
              <a:rPr lang="en-US" sz="1000" b="1" spc="4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PM&amp;GO · PMO × GMO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O que é do PMO, o que é do GMO, o que é compartilhado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11064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Cada entregável e atividade do PM&amp;GO é etiquetado (PMO / GMO / compartilhado) para a divisão PMO × GMO ser operacional, não só conceitual.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Metodologia Governança, Projetos e Mudança  ·  material interno e exclusivo Obliant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DIGITAL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206240" y="1920240"/>
            <a:ext cx="2103120" cy="2103120"/>
          </a:xfrm>
          <a:prstGeom prst="ellipse">
            <a:avLst/>
          </a:prstGeom>
          <a:solidFill>
            <a:srgbClr val="4A5C72">
              <a:alpha val="82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806440" y="1920240"/>
            <a:ext cx="2103120" cy="2103120"/>
          </a:xfrm>
          <a:prstGeom prst="ellipse">
            <a:avLst/>
          </a:prstGeom>
          <a:solidFill>
            <a:srgbClr val="998D67">
              <a:alpha val="82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4297680" y="269748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DF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PMO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583680" y="269748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GMO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394960" y="2788920"/>
            <a:ext cx="1417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COMPARTILHADO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548640" y="4251960"/>
            <a:ext cx="3544824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94944" y="4343400"/>
            <a:ext cx="32522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SÓ PMO — ENTREGA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694944" y="4617720"/>
            <a:ext cx="3252216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01600" indent="-101600">
              <a:lnSpc>
                <a:spcPts val="1200"/>
              </a:lnSpc>
              <a:buSzPct val="100000"/>
              <a:buChar char="•"/>
            </a:pPr>
            <a:r>
              <a:rPr lang="en-US" sz="8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Escopo, prazo e custo</a:t>
            </a:r>
            <a:endParaRPr lang="en-US" sz="860" dirty="0"/>
          </a:p>
          <a:p>
            <a:pPr marL="101600" indent="-101600">
              <a:lnSpc>
                <a:spcPts val="1200"/>
              </a:lnSpc>
              <a:buSzPct val="100000"/>
              <a:buChar char="•"/>
            </a:pPr>
            <a:r>
              <a:rPr lang="en-US" sz="8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Cronograma e dependências</a:t>
            </a:r>
            <a:endParaRPr lang="en-US" sz="860" dirty="0"/>
          </a:p>
          <a:p>
            <a:pPr marL="101600" indent="-101600">
              <a:lnSpc>
                <a:spcPts val="1200"/>
              </a:lnSpc>
              <a:buSzPct val="100000"/>
              <a:buChar char="•"/>
            </a:pPr>
            <a:r>
              <a:rPr lang="en-US" sz="8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Gestão de riscos de entrega</a:t>
            </a:r>
            <a:endParaRPr lang="en-US" sz="860" dirty="0"/>
          </a:p>
          <a:p>
            <a:pPr marL="101600" indent="-101600">
              <a:lnSpc>
                <a:spcPts val="1200"/>
              </a:lnSpc>
              <a:buSzPct val="100000"/>
              <a:buChar char="•"/>
            </a:pPr>
            <a:r>
              <a:rPr lang="en-US" sz="8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Qualidade e aceite técnico</a:t>
            </a:r>
            <a:endParaRPr lang="en-US" sz="860" dirty="0"/>
          </a:p>
          <a:p>
            <a:pPr marL="101600" indent="-101600">
              <a:lnSpc>
                <a:spcPts val="1200"/>
              </a:lnSpc>
              <a:buSzPct val="100000"/>
              <a:buChar char="•"/>
            </a:pPr>
            <a:r>
              <a:rPr lang="en-US" sz="8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Gestão de fornecedores</a:t>
            </a:r>
            <a:endParaRPr lang="en-US" sz="860" dirty="0"/>
          </a:p>
        </p:txBody>
      </p:sp>
      <p:sp>
        <p:nvSpPr>
          <p:cNvPr id="16" name="Shape 14"/>
          <p:cNvSpPr/>
          <p:nvPr/>
        </p:nvSpPr>
        <p:spPr>
          <a:xfrm>
            <a:off x="4322064" y="4251960"/>
            <a:ext cx="3544824" cy="1828800"/>
          </a:xfrm>
          <a:prstGeom prst="roundRect">
            <a:avLst>
              <a:gd name="adj" fmla="val 3000"/>
            </a:avLst>
          </a:prstGeom>
          <a:solidFill>
            <a:srgbClr val="FBF9F2"/>
          </a:solidFill>
          <a:ln w="9525">
            <a:solidFill>
              <a:srgbClr val="998D6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468368" y="4343400"/>
            <a:ext cx="32522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COMPARTILHADO — GOVERNANÇA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4468368" y="4617720"/>
            <a:ext cx="3252216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01600" indent="-101600">
              <a:lnSpc>
                <a:spcPts val="1200"/>
              </a:lnSpc>
              <a:buSzPct val="100000"/>
              <a:buChar char="•"/>
            </a:pPr>
            <a:r>
              <a:rPr lang="en-US" sz="8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Governança e ritos do projeto</a:t>
            </a:r>
            <a:endParaRPr lang="en-US" sz="860" dirty="0"/>
          </a:p>
          <a:p>
            <a:pPr marL="101600" indent="-101600">
              <a:lnSpc>
                <a:spcPts val="1200"/>
              </a:lnSpc>
              <a:buSzPct val="100000"/>
              <a:buChar char="•"/>
            </a:pPr>
            <a:r>
              <a:rPr lang="en-US" sz="8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Patrocínio executivo</a:t>
            </a:r>
            <a:endParaRPr lang="en-US" sz="860" dirty="0"/>
          </a:p>
          <a:p>
            <a:pPr marL="101600" indent="-101600">
              <a:lnSpc>
                <a:spcPts val="1200"/>
              </a:lnSpc>
              <a:buSzPct val="100000"/>
              <a:buChar char="•"/>
            </a:pPr>
            <a:r>
              <a:rPr lang="en-US" sz="8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Mapa de stakeholders</a:t>
            </a:r>
            <a:endParaRPr lang="en-US" sz="860" dirty="0"/>
          </a:p>
          <a:p>
            <a:pPr marL="101600" indent="-101600">
              <a:lnSpc>
                <a:spcPts val="1200"/>
              </a:lnSpc>
              <a:buSzPct val="100000"/>
              <a:buChar char="•"/>
            </a:pPr>
            <a:r>
              <a:rPr lang="en-US" sz="8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Painel entrega × adoção</a:t>
            </a:r>
            <a:endParaRPr lang="en-US" sz="860" dirty="0"/>
          </a:p>
          <a:p>
            <a:pPr marL="101600" indent="-101600">
              <a:lnSpc>
                <a:spcPts val="1200"/>
              </a:lnSpc>
              <a:buSzPct val="100000"/>
              <a:buChar char="•"/>
            </a:pPr>
            <a:r>
              <a:rPr lang="en-US" sz="8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Gestão integrada de riscos</a:t>
            </a:r>
            <a:endParaRPr lang="en-US" sz="860" dirty="0"/>
          </a:p>
        </p:txBody>
      </p:sp>
      <p:sp>
        <p:nvSpPr>
          <p:cNvPr id="19" name="Shape 17"/>
          <p:cNvSpPr/>
          <p:nvPr/>
        </p:nvSpPr>
        <p:spPr>
          <a:xfrm>
            <a:off x="8095488" y="4251960"/>
            <a:ext cx="3544824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41792" y="4343400"/>
            <a:ext cx="32522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SÓ GMO — ADOÇÃO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8241792" y="4617720"/>
            <a:ext cx="3252216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01600" indent="-101600">
              <a:lnSpc>
                <a:spcPts val="1200"/>
              </a:lnSpc>
              <a:buSzPct val="100000"/>
              <a:buChar char="•"/>
            </a:pPr>
            <a:r>
              <a:rPr lang="en-US" sz="8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Comunicação e engajamento</a:t>
            </a:r>
            <a:endParaRPr lang="en-US" sz="860" dirty="0"/>
          </a:p>
          <a:p>
            <a:pPr marL="101600" indent="-101600">
              <a:lnSpc>
                <a:spcPts val="1200"/>
              </a:lnSpc>
              <a:buSzPct val="100000"/>
              <a:buChar char="•"/>
            </a:pPr>
            <a:r>
              <a:rPr lang="en-US" sz="8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Impactos organizacionais</a:t>
            </a:r>
            <a:endParaRPr lang="en-US" sz="860" dirty="0"/>
          </a:p>
          <a:p>
            <a:pPr marL="101600" indent="-101600">
              <a:lnSpc>
                <a:spcPts val="1200"/>
              </a:lnSpc>
              <a:buSzPct val="100000"/>
              <a:buChar char="•"/>
            </a:pPr>
            <a:r>
              <a:rPr lang="en-US" sz="8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Capacitação e treinamento</a:t>
            </a:r>
            <a:endParaRPr lang="en-US" sz="860" dirty="0"/>
          </a:p>
          <a:p>
            <a:pPr marL="101600" indent="-101600">
              <a:lnSpc>
                <a:spcPts val="1200"/>
              </a:lnSpc>
              <a:buSzPct val="100000"/>
              <a:buChar char="•"/>
            </a:pPr>
            <a:r>
              <a:rPr lang="en-US" sz="8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Gestão de resistências</a:t>
            </a:r>
            <a:endParaRPr lang="en-US" sz="860" dirty="0"/>
          </a:p>
          <a:p>
            <a:pPr marL="101600" indent="-101600">
              <a:lnSpc>
                <a:spcPts val="1200"/>
              </a:lnSpc>
              <a:buSzPct val="100000"/>
              <a:buChar char="•"/>
            </a:pPr>
            <a:r>
              <a:rPr lang="en-US" sz="8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Métricas de adoção e sustentação</a:t>
            </a:r>
            <a:endParaRPr lang="en-US" sz="86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</a:t>
            </a:r>
            <a:pPr indent="0" marL="0">
              <a:buNone/>
            </a:pPr>
            <a:r>
              <a:rPr lang="en-US" sz="1000" b="1" spc="4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PM&amp;GO · BLOCO B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Roadmap — iniciativas por nível de maturidade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11064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Jornada de evolução, não lista de serviços: o assessment aponta a coluna atual; a seguinte é o plano recomendado.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Metodologia Governança, Projetos e Mudança  ·  material interno e exclusivo Obliant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DIGITAL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48640" y="1920240"/>
            <a:ext cx="2086661" cy="4160520"/>
          </a:xfrm>
          <a:prstGeom prst="roundRect">
            <a:avLst>
              <a:gd name="adj" fmla="val 2629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1920240"/>
            <a:ext cx="2086661" cy="566928"/>
          </a:xfrm>
          <a:prstGeom prst="rect">
            <a:avLst/>
          </a:prstGeom>
          <a:solidFill>
            <a:srgbClr val="EDF0F4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965960"/>
            <a:ext cx="186720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NÍVEL 1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58368" y="2148840"/>
            <a:ext cx="186720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Inicial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76656" y="2852928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13" name="Text 11"/>
          <p:cNvSpPr/>
          <p:nvPr/>
        </p:nvSpPr>
        <p:spPr>
          <a:xfrm>
            <a:off x="804672" y="2624328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Diagnóstico rápido do projeto: entrega e adoção</a:t>
            </a:r>
            <a:endParaRPr lang="en-US" sz="760" dirty="0"/>
          </a:p>
        </p:txBody>
      </p:sp>
      <p:sp>
        <p:nvSpPr>
          <p:cNvPr id="14" name="Shape 12"/>
          <p:cNvSpPr/>
          <p:nvPr/>
        </p:nvSpPr>
        <p:spPr>
          <a:xfrm>
            <a:off x="676656" y="3419856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15" name="Text 13"/>
          <p:cNvSpPr/>
          <p:nvPr/>
        </p:nvSpPr>
        <p:spPr>
          <a:xfrm>
            <a:off x="804672" y="3191256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Definição de sponsor único e mandato da governança</a:t>
            </a:r>
            <a:endParaRPr lang="en-US" sz="760" dirty="0"/>
          </a:p>
        </p:txBody>
      </p:sp>
      <p:sp>
        <p:nvSpPr>
          <p:cNvPr id="16" name="Shape 14"/>
          <p:cNvSpPr/>
          <p:nvPr/>
        </p:nvSpPr>
        <p:spPr>
          <a:xfrm>
            <a:off x="676656" y="3986784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17" name="Text 15"/>
          <p:cNvSpPr/>
          <p:nvPr/>
        </p:nvSpPr>
        <p:spPr>
          <a:xfrm>
            <a:off x="804672" y="3758184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Mapa unificado de stakeholders do projeto</a:t>
            </a:r>
            <a:endParaRPr lang="en-US" sz="760" dirty="0"/>
          </a:p>
        </p:txBody>
      </p:sp>
      <p:sp>
        <p:nvSpPr>
          <p:cNvPr id="18" name="Shape 16"/>
          <p:cNvSpPr/>
          <p:nvPr/>
        </p:nvSpPr>
        <p:spPr>
          <a:xfrm>
            <a:off x="676656" y="4553712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19" name="Text 17"/>
          <p:cNvSpPr/>
          <p:nvPr/>
        </p:nvSpPr>
        <p:spPr>
          <a:xfrm>
            <a:off x="804672" y="4325112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Ritos mínimos de governança integrada</a:t>
            </a:r>
            <a:endParaRPr lang="en-US" sz="760" dirty="0"/>
          </a:p>
        </p:txBody>
      </p:sp>
      <p:sp>
        <p:nvSpPr>
          <p:cNvPr id="20" name="Shape 18"/>
          <p:cNvSpPr/>
          <p:nvPr/>
        </p:nvSpPr>
        <p:spPr>
          <a:xfrm>
            <a:off x="676656" y="5120640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21" name="Text 19"/>
          <p:cNvSpPr/>
          <p:nvPr/>
        </p:nvSpPr>
        <p:spPr>
          <a:xfrm>
            <a:off x="804672" y="4892040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Definição inicial do modo de atuação da Obliant</a:t>
            </a:r>
            <a:endParaRPr lang="en-US" sz="760" dirty="0"/>
          </a:p>
        </p:txBody>
      </p:sp>
      <p:sp>
        <p:nvSpPr>
          <p:cNvPr id="22" name="Shape 20"/>
          <p:cNvSpPr/>
          <p:nvPr/>
        </p:nvSpPr>
        <p:spPr>
          <a:xfrm>
            <a:off x="2799893" y="1920240"/>
            <a:ext cx="2086661" cy="4160520"/>
          </a:xfrm>
          <a:prstGeom prst="roundRect">
            <a:avLst>
              <a:gd name="adj" fmla="val 2629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799893" y="1920240"/>
            <a:ext cx="2086661" cy="566928"/>
          </a:xfrm>
          <a:prstGeom prst="rect">
            <a:avLst/>
          </a:prstGeom>
          <a:solidFill>
            <a:srgbClr val="EDF0F4"/>
          </a:solidFill>
          <a:ln/>
        </p:spPr>
      </p:sp>
      <p:sp>
        <p:nvSpPr>
          <p:cNvPr id="24" name="Text 22"/>
          <p:cNvSpPr/>
          <p:nvPr/>
        </p:nvSpPr>
        <p:spPr>
          <a:xfrm>
            <a:off x="2909621" y="1965960"/>
            <a:ext cx="186720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NÍVEL 2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909621" y="2148840"/>
            <a:ext cx="186720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Emergente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927909" y="2852928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27" name="Text 25"/>
          <p:cNvSpPr/>
          <p:nvPr/>
        </p:nvSpPr>
        <p:spPr>
          <a:xfrm>
            <a:off x="3055925" y="2624328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Plano integrado de projeto (entrega + adoção)</a:t>
            </a:r>
            <a:endParaRPr lang="en-US" sz="760" dirty="0"/>
          </a:p>
        </p:txBody>
      </p:sp>
      <p:sp>
        <p:nvSpPr>
          <p:cNvPr id="28" name="Shape 26"/>
          <p:cNvSpPr/>
          <p:nvPr/>
        </p:nvSpPr>
        <p:spPr>
          <a:xfrm>
            <a:off x="2927909" y="3419856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29" name="Text 27"/>
          <p:cNvSpPr/>
          <p:nvPr/>
        </p:nvSpPr>
        <p:spPr>
          <a:xfrm>
            <a:off x="3055925" y="3191256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Matriz de riscos unificada (entrega e adoção)</a:t>
            </a:r>
            <a:endParaRPr lang="en-US" sz="760" dirty="0"/>
          </a:p>
        </p:txBody>
      </p:sp>
      <p:sp>
        <p:nvSpPr>
          <p:cNvPr id="30" name="Shape 28"/>
          <p:cNvSpPr/>
          <p:nvPr/>
        </p:nvSpPr>
        <p:spPr>
          <a:xfrm>
            <a:off x="2927909" y="3986784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31" name="Text 29"/>
          <p:cNvSpPr/>
          <p:nvPr/>
        </p:nvSpPr>
        <p:spPr>
          <a:xfrm>
            <a:off x="3055925" y="3758184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Plano de comunicação do projeto por público</a:t>
            </a:r>
            <a:endParaRPr lang="en-US" sz="760" dirty="0"/>
          </a:p>
        </p:txBody>
      </p:sp>
      <p:sp>
        <p:nvSpPr>
          <p:cNvPr id="32" name="Shape 30"/>
          <p:cNvSpPr/>
          <p:nvPr/>
        </p:nvSpPr>
        <p:spPr>
          <a:xfrm>
            <a:off x="2927909" y="4553712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33" name="Text 31"/>
          <p:cNvSpPr/>
          <p:nvPr/>
        </p:nvSpPr>
        <p:spPr>
          <a:xfrm>
            <a:off x="3055925" y="4325112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Cadência de comitês com pauta dupla (entrega × adoção)</a:t>
            </a:r>
            <a:endParaRPr lang="en-US" sz="760" dirty="0"/>
          </a:p>
        </p:txBody>
      </p:sp>
      <p:sp>
        <p:nvSpPr>
          <p:cNvPr id="34" name="Shape 32"/>
          <p:cNvSpPr/>
          <p:nvPr/>
        </p:nvSpPr>
        <p:spPr>
          <a:xfrm>
            <a:off x="2927909" y="5120640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35" name="Text 33"/>
          <p:cNvSpPr/>
          <p:nvPr/>
        </p:nvSpPr>
        <p:spPr>
          <a:xfrm>
            <a:off x="3055925" y="4892040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Etiquetagem das atividades: PMO, GMO ou compartilhado</a:t>
            </a:r>
            <a:endParaRPr lang="en-US" sz="760" dirty="0"/>
          </a:p>
        </p:txBody>
      </p:sp>
      <p:sp>
        <p:nvSpPr>
          <p:cNvPr id="36" name="Shape 34"/>
          <p:cNvSpPr/>
          <p:nvPr/>
        </p:nvSpPr>
        <p:spPr>
          <a:xfrm>
            <a:off x="5051146" y="1920240"/>
            <a:ext cx="2086661" cy="4160520"/>
          </a:xfrm>
          <a:prstGeom prst="roundRect">
            <a:avLst>
              <a:gd name="adj" fmla="val 2629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051146" y="1920240"/>
            <a:ext cx="2086661" cy="566928"/>
          </a:xfrm>
          <a:prstGeom prst="rect">
            <a:avLst/>
          </a:prstGeom>
          <a:solidFill>
            <a:srgbClr val="4A5C72"/>
          </a:solidFill>
          <a:ln/>
        </p:spPr>
      </p:sp>
      <p:sp>
        <p:nvSpPr>
          <p:cNvPr id="38" name="Text 36"/>
          <p:cNvSpPr/>
          <p:nvPr/>
        </p:nvSpPr>
        <p:spPr>
          <a:xfrm>
            <a:off x="5160874" y="1965960"/>
            <a:ext cx="186720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NÍVEL 3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5160874" y="2148840"/>
            <a:ext cx="186720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DF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Estruturado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5179162" y="2852928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41" name="Text 39"/>
          <p:cNvSpPr/>
          <p:nvPr/>
        </p:nvSpPr>
        <p:spPr>
          <a:xfrm>
            <a:off x="5307178" y="2624328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Painel duplo operante: % entrega × % adoção</a:t>
            </a:r>
            <a:endParaRPr lang="en-US" sz="760" dirty="0"/>
          </a:p>
        </p:txBody>
      </p:sp>
      <p:sp>
        <p:nvSpPr>
          <p:cNvPr id="42" name="Shape 40"/>
          <p:cNvSpPr/>
          <p:nvPr/>
        </p:nvSpPr>
        <p:spPr>
          <a:xfrm>
            <a:off x="5179162" y="3419856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43" name="Text 41"/>
          <p:cNvSpPr/>
          <p:nvPr/>
        </p:nvSpPr>
        <p:spPr>
          <a:xfrm>
            <a:off x="5307178" y="3191256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Gates de fase condicionados a critérios de adoção</a:t>
            </a:r>
            <a:endParaRPr lang="en-US" sz="760" dirty="0"/>
          </a:p>
        </p:txBody>
      </p:sp>
      <p:sp>
        <p:nvSpPr>
          <p:cNvPr id="44" name="Shape 42"/>
          <p:cNvSpPr/>
          <p:nvPr/>
        </p:nvSpPr>
        <p:spPr>
          <a:xfrm>
            <a:off x="5179162" y="3986784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45" name="Text 43"/>
          <p:cNvSpPr/>
          <p:nvPr/>
        </p:nvSpPr>
        <p:spPr>
          <a:xfrm>
            <a:off x="5307178" y="3758184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Gestão ativa de resistências dentro do projeto</a:t>
            </a:r>
            <a:endParaRPr lang="en-US" sz="760" dirty="0"/>
          </a:p>
        </p:txBody>
      </p:sp>
      <p:sp>
        <p:nvSpPr>
          <p:cNvPr id="46" name="Shape 44"/>
          <p:cNvSpPr/>
          <p:nvPr/>
        </p:nvSpPr>
        <p:spPr>
          <a:xfrm>
            <a:off x="5179162" y="4553712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47" name="Text 45"/>
          <p:cNvSpPr/>
          <p:nvPr/>
        </p:nvSpPr>
        <p:spPr>
          <a:xfrm>
            <a:off x="5307178" y="4325112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Trilhas de capacitação sincronizadas ao cronograma</a:t>
            </a:r>
            <a:endParaRPr lang="en-US" sz="760" dirty="0"/>
          </a:p>
        </p:txBody>
      </p:sp>
      <p:sp>
        <p:nvSpPr>
          <p:cNvPr id="48" name="Shape 46"/>
          <p:cNvSpPr/>
          <p:nvPr/>
        </p:nvSpPr>
        <p:spPr>
          <a:xfrm>
            <a:off x="5179162" y="5120640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49" name="Text 47"/>
          <p:cNvSpPr/>
          <p:nvPr/>
        </p:nvSpPr>
        <p:spPr>
          <a:xfrm>
            <a:off x="5307178" y="4892040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Revisão periódica do modo de atuação</a:t>
            </a:r>
            <a:endParaRPr lang="en-US" sz="760" dirty="0"/>
          </a:p>
        </p:txBody>
      </p:sp>
      <p:sp>
        <p:nvSpPr>
          <p:cNvPr id="50" name="Shape 48"/>
          <p:cNvSpPr/>
          <p:nvPr/>
        </p:nvSpPr>
        <p:spPr>
          <a:xfrm>
            <a:off x="7302398" y="1920240"/>
            <a:ext cx="2086661" cy="4160520"/>
          </a:xfrm>
          <a:prstGeom prst="roundRect">
            <a:avLst>
              <a:gd name="adj" fmla="val 2629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302398" y="1920240"/>
            <a:ext cx="2086661" cy="566928"/>
          </a:xfrm>
          <a:prstGeom prst="rect">
            <a:avLst/>
          </a:prstGeom>
          <a:solidFill>
            <a:srgbClr val="EDF0F4"/>
          </a:solidFill>
          <a:ln/>
        </p:spPr>
      </p:sp>
      <p:sp>
        <p:nvSpPr>
          <p:cNvPr id="52" name="Text 50"/>
          <p:cNvSpPr/>
          <p:nvPr/>
        </p:nvSpPr>
        <p:spPr>
          <a:xfrm>
            <a:off x="7412126" y="1965960"/>
            <a:ext cx="186720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NÍVEL 4</a:t>
            </a:r>
            <a:endParaRPr lang="en-US" sz="750" dirty="0"/>
          </a:p>
        </p:txBody>
      </p:sp>
      <p:sp>
        <p:nvSpPr>
          <p:cNvPr id="53" name="Text 51"/>
          <p:cNvSpPr/>
          <p:nvPr/>
        </p:nvSpPr>
        <p:spPr>
          <a:xfrm>
            <a:off x="7412126" y="2148840"/>
            <a:ext cx="186720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Integrado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7430414" y="2852928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55" name="Text 53"/>
          <p:cNvSpPr/>
          <p:nvPr/>
        </p:nvSpPr>
        <p:spPr>
          <a:xfrm>
            <a:off x="7558430" y="2624328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Integração do projeto ao portfólio e ao orçamento</a:t>
            </a:r>
            <a:endParaRPr lang="en-US" sz="760" dirty="0"/>
          </a:p>
        </p:txBody>
      </p:sp>
      <p:sp>
        <p:nvSpPr>
          <p:cNvPr id="56" name="Shape 54"/>
          <p:cNvSpPr/>
          <p:nvPr/>
        </p:nvSpPr>
        <p:spPr>
          <a:xfrm>
            <a:off x="7430414" y="3419856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57" name="Text 55"/>
          <p:cNvSpPr/>
          <p:nvPr/>
        </p:nvSpPr>
        <p:spPr>
          <a:xfrm>
            <a:off x="7558430" y="3191256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Métricas de benefício: valor entregue × valor adotado</a:t>
            </a:r>
            <a:endParaRPr lang="en-US" sz="760" dirty="0"/>
          </a:p>
        </p:txBody>
      </p:sp>
      <p:sp>
        <p:nvSpPr>
          <p:cNvPr id="58" name="Shape 56"/>
          <p:cNvSpPr/>
          <p:nvPr/>
        </p:nvSpPr>
        <p:spPr>
          <a:xfrm>
            <a:off x="7430414" y="3986784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59" name="Text 57"/>
          <p:cNvSpPr/>
          <p:nvPr/>
        </p:nvSpPr>
        <p:spPr>
          <a:xfrm>
            <a:off x="7558430" y="3758184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Programa de champions dentro do projeto</a:t>
            </a:r>
            <a:endParaRPr lang="en-US" sz="760" dirty="0"/>
          </a:p>
        </p:txBody>
      </p:sp>
      <p:sp>
        <p:nvSpPr>
          <p:cNvPr id="60" name="Shape 58"/>
          <p:cNvSpPr/>
          <p:nvPr/>
        </p:nvSpPr>
        <p:spPr>
          <a:xfrm>
            <a:off x="7430414" y="4553712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61" name="Text 59"/>
          <p:cNvSpPr/>
          <p:nvPr/>
        </p:nvSpPr>
        <p:spPr>
          <a:xfrm>
            <a:off x="7558430" y="4325112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Auditoria integrada de qualidade (método + adoção)</a:t>
            </a:r>
            <a:endParaRPr lang="en-US" sz="760" dirty="0"/>
          </a:p>
        </p:txBody>
      </p:sp>
      <p:sp>
        <p:nvSpPr>
          <p:cNvPr id="62" name="Shape 60"/>
          <p:cNvSpPr/>
          <p:nvPr/>
        </p:nvSpPr>
        <p:spPr>
          <a:xfrm>
            <a:off x="7430414" y="5120640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63" name="Text 61"/>
          <p:cNvSpPr/>
          <p:nvPr/>
        </p:nvSpPr>
        <p:spPr>
          <a:xfrm>
            <a:off x="7558430" y="4892040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Playbook de transição para operação</a:t>
            </a:r>
            <a:endParaRPr lang="en-US" sz="760" dirty="0"/>
          </a:p>
        </p:txBody>
      </p:sp>
      <p:sp>
        <p:nvSpPr>
          <p:cNvPr id="64" name="Shape 62"/>
          <p:cNvSpPr/>
          <p:nvPr/>
        </p:nvSpPr>
        <p:spPr>
          <a:xfrm>
            <a:off x="9553651" y="1920240"/>
            <a:ext cx="2086661" cy="4160520"/>
          </a:xfrm>
          <a:prstGeom prst="roundRect">
            <a:avLst>
              <a:gd name="adj" fmla="val 2629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9553651" y="1920240"/>
            <a:ext cx="2086661" cy="566928"/>
          </a:xfrm>
          <a:prstGeom prst="rect">
            <a:avLst/>
          </a:prstGeom>
          <a:solidFill>
            <a:srgbClr val="EDF0F4"/>
          </a:solidFill>
          <a:ln/>
        </p:spPr>
      </p:sp>
      <p:sp>
        <p:nvSpPr>
          <p:cNvPr id="66" name="Text 64"/>
          <p:cNvSpPr/>
          <p:nvPr/>
        </p:nvSpPr>
        <p:spPr>
          <a:xfrm>
            <a:off x="9663379" y="1965960"/>
            <a:ext cx="186720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NÍVEL 5</a:t>
            </a:r>
            <a:endParaRPr lang="en-US" sz="750" dirty="0"/>
          </a:p>
        </p:txBody>
      </p:sp>
      <p:sp>
        <p:nvSpPr>
          <p:cNvPr id="67" name="Text 65"/>
          <p:cNvSpPr/>
          <p:nvPr/>
        </p:nvSpPr>
        <p:spPr>
          <a:xfrm>
            <a:off x="9663379" y="2148840"/>
            <a:ext cx="186720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Excelência</a:t>
            </a:r>
            <a:endParaRPr lang="en-US" sz="1300" dirty="0"/>
          </a:p>
        </p:txBody>
      </p:sp>
      <p:sp>
        <p:nvSpPr>
          <p:cNvPr id="68" name="Shape 66"/>
          <p:cNvSpPr/>
          <p:nvPr/>
        </p:nvSpPr>
        <p:spPr>
          <a:xfrm>
            <a:off x="9681667" y="2852928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69" name="Text 67"/>
          <p:cNvSpPr/>
          <p:nvPr/>
        </p:nvSpPr>
        <p:spPr>
          <a:xfrm>
            <a:off x="9809683" y="2624328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Governança integrada como padrão de todo projeto crítico</a:t>
            </a:r>
            <a:endParaRPr lang="en-US" sz="760" dirty="0"/>
          </a:p>
        </p:txBody>
      </p:sp>
      <p:sp>
        <p:nvSpPr>
          <p:cNvPr id="70" name="Shape 68"/>
          <p:cNvSpPr/>
          <p:nvPr/>
        </p:nvSpPr>
        <p:spPr>
          <a:xfrm>
            <a:off x="9681667" y="3419856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71" name="Text 69"/>
          <p:cNvSpPr/>
          <p:nvPr/>
        </p:nvSpPr>
        <p:spPr>
          <a:xfrm>
            <a:off x="9809683" y="3191256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 preditivo de entrega e de adoção</a:t>
            </a:r>
            <a:endParaRPr lang="en-US" sz="760" dirty="0"/>
          </a:p>
        </p:txBody>
      </p:sp>
      <p:sp>
        <p:nvSpPr>
          <p:cNvPr id="72" name="Shape 70"/>
          <p:cNvSpPr/>
          <p:nvPr/>
        </p:nvSpPr>
        <p:spPr>
          <a:xfrm>
            <a:off x="9681667" y="3986784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73" name="Text 71"/>
          <p:cNvSpPr/>
          <p:nvPr/>
        </p:nvSpPr>
        <p:spPr>
          <a:xfrm>
            <a:off x="9809683" y="3758184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Transferência de capacidade: cliente autônomo no modelo</a:t>
            </a:r>
            <a:endParaRPr lang="en-US" sz="760" dirty="0"/>
          </a:p>
        </p:txBody>
      </p:sp>
      <p:sp>
        <p:nvSpPr>
          <p:cNvPr id="74" name="Shape 72"/>
          <p:cNvSpPr/>
          <p:nvPr/>
        </p:nvSpPr>
        <p:spPr>
          <a:xfrm>
            <a:off x="9681667" y="4553712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75" name="Text 73"/>
          <p:cNvSpPr/>
          <p:nvPr/>
        </p:nvSpPr>
        <p:spPr>
          <a:xfrm>
            <a:off x="9809683" y="4325112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Melhoria contínua do playbook integrado</a:t>
            </a:r>
            <a:endParaRPr lang="en-US" sz="760" dirty="0"/>
          </a:p>
        </p:txBody>
      </p:sp>
      <p:sp>
        <p:nvSpPr>
          <p:cNvPr id="76" name="Shape 74"/>
          <p:cNvSpPr/>
          <p:nvPr/>
        </p:nvSpPr>
        <p:spPr>
          <a:xfrm>
            <a:off x="9681667" y="5120640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77" name="Text 75"/>
          <p:cNvSpPr/>
          <p:nvPr/>
        </p:nvSpPr>
        <p:spPr>
          <a:xfrm>
            <a:off x="9809683" y="4892040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Benchmark externo de governança de projetos</a:t>
            </a:r>
            <a:endParaRPr lang="en-US" sz="76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</a:t>
            </a:r>
            <a:pPr indent="0" marL="0">
              <a:buNone/>
            </a:pPr>
            <a:r>
              <a:rPr lang="en-US" sz="1000" b="1" spc="4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PM&amp;GO · BLOCO C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Mapa de maturidade — régua única de 5 níveis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11064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mesma escala das três frentes: posicione o cliente aqui e leia o roadmap a partir do nível seguinte.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Metodologia Governança, Projetos e Mudança  ·  material interno e exclusivo Obliant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DIGITAL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48640" y="3703320"/>
            <a:ext cx="207203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3703320"/>
            <a:ext cx="2072030" cy="73152"/>
          </a:xfrm>
          <a:prstGeom prst="rect">
            <a:avLst/>
          </a:prstGeom>
          <a:solidFill>
            <a:srgbClr val="998D67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" y="3849624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676656" y="4325112"/>
            <a:ext cx="181599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Inicial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76656" y="4636008"/>
            <a:ext cx="181599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Práticas ad hoc, dependentes de pessoas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676656" y="5093208"/>
            <a:ext cx="1815998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Iniciativas conduzidas caso a caso, sem método comum. Resultados dependem de esforço individual; pouca visibilidade e previsibilidade.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2803550" y="3291840"/>
            <a:ext cx="2072030" cy="2331720"/>
          </a:xfrm>
          <a:prstGeom prst="roundRect">
            <a:avLst>
              <a:gd name="adj" fmla="val 2648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803550" y="3291840"/>
            <a:ext cx="2072030" cy="73152"/>
          </a:xfrm>
          <a:prstGeom prst="rect">
            <a:avLst/>
          </a:prstGeom>
          <a:solidFill>
            <a:srgbClr val="998D67"/>
          </a:solidFill>
          <a:ln/>
        </p:spPr>
      </p:sp>
      <p:sp>
        <p:nvSpPr>
          <p:cNvPr id="16" name="Text 14"/>
          <p:cNvSpPr/>
          <p:nvPr/>
        </p:nvSpPr>
        <p:spPr>
          <a:xfrm>
            <a:off x="2931566" y="3438144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2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2931566" y="3913632"/>
            <a:ext cx="181599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Emergente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2931566" y="4224528"/>
            <a:ext cx="181599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Primeiras práticas definidas, aplicação irregular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1566" y="4681728"/>
            <a:ext cx="1815998" cy="8138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Métodos e papéis básicos existem, mas a aplicação é inconsistente entre áreas e projetos. Padrões começam a se formar.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5058461" y="2880360"/>
            <a:ext cx="2072030" cy="2743200"/>
          </a:xfrm>
          <a:prstGeom prst="roundRect">
            <a:avLst>
              <a:gd name="adj" fmla="val 2648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58461" y="2880360"/>
            <a:ext cx="2072030" cy="73152"/>
          </a:xfrm>
          <a:prstGeom prst="rect">
            <a:avLst/>
          </a:prstGeom>
          <a:solidFill>
            <a:srgbClr val="998D67"/>
          </a:solidFill>
          <a:ln/>
        </p:spPr>
      </p:sp>
      <p:sp>
        <p:nvSpPr>
          <p:cNvPr id="22" name="Text 20"/>
          <p:cNvSpPr/>
          <p:nvPr/>
        </p:nvSpPr>
        <p:spPr>
          <a:xfrm>
            <a:off x="5186477" y="3026664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3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5186477" y="3502152"/>
            <a:ext cx="181599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Estruturado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186477" y="3813048"/>
            <a:ext cx="181599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Método padronizado e adotado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186477" y="4270248"/>
            <a:ext cx="1815998" cy="12252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Método único, papéis claros e ritos de governança operando. A organização executa de forma consistente e comparável.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7313371" y="2468880"/>
            <a:ext cx="2072030" cy="3154680"/>
          </a:xfrm>
          <a:prstGeom prst="roundRect">
            <a:avLst>
              <a:gd name="adj" fmla="val 2648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313371" y="2468880"/>
            <a:ext cx="2072030" cy="73152"/>
          </a:xfrm>
          <a:prstGeom prst="rect">
            <a:avLst/>
          </a:prstGeom>
          <a:solidFill>
            <a:srgbClr val="998D67"/>
          </a:solidFill>
          <a:ln/>
        </p:spPr>
      </p:sp>
      <p:sp>
        <p:nvSpPr>
          <p:cNvPr id="28" name="Text 26"/>
          <p:cNvSpPr/>
          <p:nvPr/>
        </p:nvSpPr>
        <p:spPr>
          <a:xfrm>
            <a:off x="7441387" y="2615184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4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7441387" y="3090672"/>
            <a:ext cx="181599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Integrado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441387" y="3401568"/>
            <a:ext cx="181599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Gestão integrada e orientada a dados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7441387" y="3858768"/>
            <a:ext cx="1815998" cy="1636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Disciplinas conectadas entre si e ao planejamento da organização. Decisões apoiadas por indicadores; capacidade e portfólio geridos em conjunto.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9568282" y="2057400"/>
            <a:ext cx="2072030" cy="3566160"/>
          </a:xfrm>
          <a:prstGeom prst="roundRect">
            <a:avLst>
              <a:gd name="adj" fmla="val 2648"/>
            </a:avLst>
          </a:prstGeom>
          <a:solidFill>
            <a:srgbClr val="4A5C72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568282" y="2057400"/>
            <a:ext cx="2072030" cy="73152"/>
          </a:xfrm>
          <a:prstGeom prst="rect">
            <a:avLst/>
          </a:prstGeom>
          <a:solidFill>
            <a:srgbClr val="998D67"/>
          </a:solidFill>
          <a:ln/>
        </p:spPr>
      </p:sp>
      <p:sp>
        <p:nvSpPr>
          <p:cNvPr id="34" name="Text 32"/>
          <p:cNvSpPr/>
          <p:nvPr/>
        </p:nvSpPr>
        <p:spPr>
          <a:xfrm>
            <a:off x="9696298" y="2203704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5</a:t>
            </a:r>
            <a:endParaRPr lang="en-US" sz="2400" dirty="0"/>
          </a:p>
        </p:txBody>
      </p:sp>
      <p:sp>
        <p:nvSpPr>
          <p:cNvPr id="35" name="Text 33"/>
          <p:cNvSpPr/>
          <p:nvPr/>
        </p:nvSpPr>
        <p:spPr>
          <a:xfrm>
            <a:off x="9696298" y="2679192"/>
            <a:ext cx="181599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DF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Excelência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9696298" y="2990088"/>
            <a:ext cx="181599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Melhoria contínua e valor estratégico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9696298" y="3447288"/>
            <a:ext cx="1815998" cy="2048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B9C3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disciplina é vantagem competitiva: melhoria contínua institucionalizada, análise preditiva e referência externa (benchmark).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</a:t>
            </a:r>
            <a:pPr indent="0" marL="0">
              <a:buNone/>
            </a:pPr>
            <a:r>
              <a:rPr lang="en-US" sz="1000" b="1" spc="4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PM&amp;GO · BLOCO 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Assessment de fit — há fit para o PM&amp;GO?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11064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Este assessment é um portão de fit para o PM&amp;GO: 8 perguntas em três eixos — A (necessidade de entrega), B (necessidade de adoção) e C (interdependência e criticidade). Se houver fit, recomenda o PM&amp;GO e o modo de atuação (Suporte, Controle ou Diretivo). Se não houver, aponta uma frente a avaliar — EPP ou GMO — ou suporte leve.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Metodologia Governança, Projetos e Mudança  ·  material interno e exclusivo Obliant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DIGITAL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48640" y="1856232"/>
            <a:ext cx="3544824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94944" y="1965960"/>
            <a:ext cx="32522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EIXO A · ENTREGA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94944" y="2240280"/>
            <a:ext cx="3252216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01600" indent="-101600">
              <a:lnSpc>
                <a:spcPts val="1300"/>
              </a:lnSpc>
              <a:buSzPct val="100000"/>
              <a:buChar char="•"/>
            </a:pPr>
            <a:r>
              <a:rPr lang="en-US" sz="9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Complexidade de entrega</a:t>
            </a:r>
            <a:endParaRPr lang="en-US" sz="900" dirty="0"/>
          </a:p>
          <a:p>
            <a:pPr marL="101600" indent="-101600">
              <a:lnSpc>
                <a:spcPts val="1300"/>
              </a:lnSpc>
              <a:buSzPct val="100000"/>
              <a:buChar char="•"/>
            </a:pPr>
            <a:r>
              <a:rPr lang="en-US" sz="9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Histórico de entrega</a:t>
            </a:r>
            <a:endParaRPr lang="en-US" sz="900" dirty="0"/>
          </a:p>
          <a:p>
            <a:pPr marL="101600" indent="-101600">
              <a:lnSpc>
                <a:spcPts val="1300"/>
              </a:lnSpc>
              <a:buSzPct val="100000"/>
              <a:buChar char="•"/>
            </a:pPr>
            <a:r>
              <a:rPr lang="en-US" sz="9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Capacidade de gestão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322064" y="1856232"/>
            <a:ext cx="3544824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68368" y="1965960"/>
            <a:ext cx="32522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EIXO B · ADOÇÃO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468368" y="2240280"/>
            <a:ext cx="3252216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01600" indent="-101600">
              <a:lnSpc>
                <a:spcPts val="1300"/>
              </a:lnSpc>
              <a:buSzPct val="100000"/>
              <a:buChar char="•"/>
            </a:pPr>
            <a:r>
              <a:rPr lang="en-US" sz="9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Impacto nas pessoas</a:t>
            </a:r>
            <a:endParaRPr lang="en-US" sz="900" dirty="0"/>
          </a:p>
          <a:p>
            <a:pPr marL="101600" indent="-101600">
              <a:lnSpc>
                <a:spcPts val="1300"/>
              </a:lnSpc>
              <a:buSzPct val="100000"/>
              <a:buChar char="•"/>
            </a:pPr>
            <a:r>
              <a:rPr lang="en-US" sz="9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Risco de resistência</a:t>
            </a:r>
            <a:endParaRPr lang="en-US" sz="900" dirty="0"/>
          </a:p>
          <a:p>
            <a:pPr marL="101600" indent="-101600">
              <a:lnSpc>
                <a:spcPts val="1300"/>
              </a:lnSpc>
              <a:buSzPct val="100000"/>
              <a:buChar char="•"/>
            </a:pPr>
            <a:r>
              <a:rPr lang="en-US" sz="9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Dependência de adoção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8095488" y="1856232"/>
            <a:ext cx="3544824" cy="1371600"/>
          </a:xfrm>
          <a:prstGeom prst="roundRect">
            <a:avLst>
              <a:gd name="adj" fmla="val 4000"/>
            </a:avLst>
          </a:prstGeom>
          <a:solidFill>
            <a:srgbClr val="FBF9F2"/>
          </a:solidFill>
          <a:ln w="9525">
            <a:solidFill>
              <a:srgbClr val="998D6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1792" y="1965960"/>
            <a:ext cx="32522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EIXO C · INTEGRAÇÃO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241792" y="2240280"/>
            <a:ext cx="3252216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01600" indent="-101600">
              <a:lnSpc>
                <a:spcPts val="1300"/>
              </a:lnSpc>
              <a:buSzPct val="100000"/>
              <a:buChar char="•"/>
            </a:pPr>
            <a:r>
              <a:rPr lang="en-US" sz="9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Interdependência</a:t>
            </a:r>
            <a:endParaRPr lang="en-US" sz="900" dirty="0"/>
          </a:p>
          <a:p>
            <a:pPr marL="101600" indent="-101600">
              <a:lnSpc>
                <a:spcPts val="1300"/>
              </a:lnSpc>
              <a:buSzPct val="100000"/>
              <a:buChar char="•"/>
            </a:pPr>
            <a:r>
              <a:rPr lang="en-US" sz="9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Governança e criticidade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48640" y="3300984"/>
            <a:ext cx="110916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Há fit para o PM&amp;GO só quando A, B e C são altos. Sem fit, avalia-se UMA frente — EPP ou GMO — nunca as duas juntas.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48640" y="3657600"/>
            <a:ext cx="4572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SAÍDAS DO PORTÃO DE FIT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48640" y="3931920"/>
            <a:ext cx="2115922" cy="841248"/>
          </a:xfrm>
          <a:prstGeom prst="roundRect">
            <a:avLst>
              <a:gd name="adj" fmla="val 6522"/>
            </a:avLst>
          </a:prstGeom>
          <a:solidFill>
            <a:srgbClr val="4A5C72"/>
          </a:solidFill>
          <a:ln w="9525">
            <a:solidFill>
              <a:srgbClr val="4A5C7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8368" y="4023360"/>
            <a:ext cx="1896466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B9C3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A+B+C altas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658368" y="4334256"/>
            <a:ext cx="189646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DF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PM&amp;GO + modo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792578" y="3931920"/>
            <a:ext cx="2115922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902306" y="4023360"/>
            <a:ext cx="1896466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A+B altas · C baixa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2902306" y="4334256"/>
            <a:ext cx="189646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Sem fit → EPP ou GMO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036515" y="3931920"/>
            <a:ext cx="2115922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146243" y="4023360"/>
            <a:ext cx="1896466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alta · B baixa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5146243" y="4334256"/>
            <a:ext cx="189646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Sem fit → EPP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280453" y="3931920"/>
            <a:ext cx="2115922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90181" y="4023360"/>
            <a:ext cx="1896466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baixa · B alta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7390181" y="4334256"/>
            <a:ext cx="189646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Sem fit → GMO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9524390" y="3931920"/>
            <a:ext cx="2115922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634118" y="4023360"/>
            <a:ext cx="1896466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Todas baixas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9634118" y="4334256"/>
            <a:ext cx="189646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Suporte leve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48640" y="4937760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MODO DE ATUAÇÃO (INTENSIDADE) — exclusivo do PM&amp;GO integrado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548640" y="5212080"/>
            <a:ext cx="1371600" cy="292608"/>
          </a:xfrm>
          <a:prstGeom prst="roundRect">
            <a:avLst>
              <a:gd name="adj" fmla="val 18750"/>
            </a:avLst>
          </a:prstGeom>
          <a:solidFill>
            <a:srgbClr val="4A5C72"/>
          </a:solidFill>
          <a:ln/>
        </p:spPr>
      </p:sp>
      <p:sp>
        <p:nvSpPr>
          <p:cNvPr id="36" name="Text 34"/>
          <p:cNvSpPr/>
          <p:nvPr/>
        </p:nvSpPr>
        <p:spPr>
          <a:xfrm>
            <a:off x="548640" y="521208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Suporte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2057400" y="5212080"/>
            <a:ext cx="95829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Maturidade razoável e criticidade baixa a média.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548640" y="5577840"/>
            <a:ext cx="1371600" cy="292608"/>
          </a:xfrm>
          <a:prstGeom prst="roundRect">
            <a:avLst>
              <a:gd name="adj" fmla="val 18750"/>
            </a:avLst>
          </a:prstGeom>
          <a:solidFill>
            <a:srgbClr val="4A5C72"/>
          </a:solidFill>
          <a:ln/>
        </p:spPr>
      </p:sp>
      <p:sp>
        <p:nvSpPr>
          <p:cNvPr id="39" name="Text 37"/>
          <p:cNvSpPr/>
          <p:nvPr/>
        </p:nvSpPr>
        <p:spPr>
          <a:xfrm>
            <a:off x="548640" y="557784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Controle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2057400" y="5577840"/>
            <a:ext cx="95829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Maturidade em construção ou criticidade relevante.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548640" y="5943600"/>
            <a:ext cx="1371600" cy="292608"/>
          </a:xfrm>
          <a:prstGeom prst="roundRect">
            <a:avLst>
              <a:gd name="adj" fmla="val 18750"/>
            </a:avLst>
          </a:prstGeom>
          <a:solidFill>
            <a:srgbClr val="4A5C72"/>
          </a:solidFill>
          <a:ln/>
        </p:spPr>
      </p:sp>
      <p:sp>
        <p:nvSpPr>
          <p:cNvPr id="42" name="Text 40"/>
          <p:cNvSpPr/>
          <p:nvPr/>
        </p:nvSpPr>
        <p:spPr>
          <a:xfrm>
            <a:off x="548640" y="594360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Diretivo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2057400" y="5943600"/>
            <a:ext cx="95829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Baixa maturidade e alta criticidade — momentos decisivos.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</a:t>
            </a:r>
            <a:pPr indent="0" marL="0">
              <a:buNone/>
            </a:pPr>
            <a:r>
              <a:rPr lang="en-US" sz="1000" b="1" spc="4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PM&amp;GO · BLOCO 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RACI — papéis e responsabilidades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11064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 Responsável · A Aprovador · C Consultado · I Informado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Metodologia Governança, Projetos e Mudança  ·  material interno e exclusivo Obliant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DIGITAL</a:t>
            </a:r>
            <a:endParaRPr lang="en-US" sz="8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11091672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1395374"/>
                <a:gridCol w="1395374"/>
                <a:gridCol w="1395374"/>
                <a:gridCol w="1395374"/>
                <a:gridCol w="1395374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Atividade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Obliant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PMO do projeto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Time GMO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Sponsor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Líderes / Equipes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E394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Governança integrada e ritos do projeto   [COMP.]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8D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7A849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E394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Planejamento e controle de entrega   [PMO]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7A849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8D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E394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Plano e execução da adoção   [GMO]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7A849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8D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E394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Matriz integrada de riscos   [COMP.]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8D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E394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Comunicação e stakeholders   [GMO]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8D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E394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Painel duplo entrega × adoção   [COMP.]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7A849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7A849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E394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Definição e revisão do modo de atuação   [COMP.]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8D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7A849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</a:t>
            </a:r>
            <a:pPr indent="0" marL="0">
              <a:buNone/>
            </a:pPr>
            <a:r>
              <a:rPr lang="en-US" sz="1000" b="1" spc="4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GLOSSÁRIO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Termos e definições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11064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Vocabulário comum — o mesmo no deck e no site.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Metodologia Governança, Projetos e Mudança  ·  material interno e exclusivo Obliant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DIGITAL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48640" y="1920240"/>
            <a:ext cx="5408676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1975104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EPP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286000" y="1975104"/>
            <a:ext cx="353415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Escritório de Projetos e Processos — o produto de entrega. Operado por um PMO.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6231636" y="1920240"/>
            <a:ext cx="5408676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68796" y="1975104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PMO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968996" y="1975104"/>
            <a:ext cx="353415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Management Office: time/estrutura que opera o EPP e conduz projetos.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548640" y="2688336"/>
            <a:ext cx="5408676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274320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GMO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286000" y="2743200"/>
            <a:ext cx="353415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Gestão da Mudança Organizacional: trata o lado humano da transformação — adoção e sustentação.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6231636" y="2688336"/>
            <a:ext cx="5408676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68796" y="274320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PM&amp;GO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968996" y="2743200"/>
            <a:ext cx="353415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Governança integrada de um projeto, combinando EPP (entrega) + GMO (adoção).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548640" y="3456432"/>
            <a:ext cx="5408676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" y="3511296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Assessment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286000" y="3511296"/>
            <a:ext cx="353415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Diagnóstico que posiciona o cliente na régua de maturidade e gera o roadmap recomendado.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6231636" y="3456432"/>
            <a:ext cx="5408676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68796" y="3511296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Maturidade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968996" y="3511296"/>
            <a:ext cx="353415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Régua de 5 níveis (Inicial → Excelência) comum aos três produtos.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548640" y="4224528"/>
            <a:ext cx="5408676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85800" y="4279392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RACI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2286000" y="4279392"/>
            <a:ext cx="353415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Matriz de papéis: Responsável, Aprovador, Consultado, Informado.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6231636" y="4224528"/>
            <a:ext cx="5408676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68796" y="4279392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OCM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968996" y="4279392"/>
            <a:ext cx="353415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Organizational Change Management; base conceitual do GMO (ADKAR, Kotter, ACMP).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548640" y="4992624"/>
            <a:ext cx="5408676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85800" y="5047488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Modo de atuação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2286000" y="5047488"/>
            <a:ext cx="353415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Intensidade da atuação Obliant no PM&amp;GO: Suporte → Controle → Diretivo.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6231636" y="4992624"/>
            <a:ext cx="5408676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368796" y="5047488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Framework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7968996" y="5047488"/>
            <a:ext cx="353415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Primeira camada de cada produto: objetivo, escopo, pilares e entregáveis.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8640" y="5760720"/>
            <a:ext cx="5408676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" y="5815584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Roadmap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2286000" y="5815584"/>
            <a:ext cx="353415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Segunda camada: iniciativas organizadas por nível de maturidade — jornada de evolução.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6231636" y="5760720"/>
            <a:ext cx="5408676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368796" y="5815584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Fit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7968996" y="5815584"/>
            <a:ext cx="353415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Adequação: o assessment do PM&amp;GO mede necessidade de entrega × necessidade de adoção.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4A5C7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998D6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029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</a:t>
            </a:r>
            <a:pPr indent="0" marL="0">
              <a:buNone/>
            </a:pPr>
            <a:r>
              <a:rPr lang="en-US" sz="1000" b="1" spc="4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2377440"/>
            <a:ext cx="10058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4000" dirty="0">
                <a:solidFill>
                  <a:srgbClr val="FFFDF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Uma metodologia.</a:t>
            </a:r>
            <a:endParaRPr lang="en-US" sz="40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4000" dirty="0">
                <a:solidFill>
                  <a:srgbClr val="FFFDF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Três produtos. Uma régua.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420624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EPP entrega  ·  GMO adota  ·  PM&amp;GO integra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5943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B9C3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DIGITAL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Metodologia Governança, Projetos e Mudança</dc:title>
  <dc:subject>PptxGenJS Presentation</dc:subject>
  <dc:creator>Obliant Digital</dc:creator>
  <cp:lastModifiedBy>Obliant Digital</cp:lastModifiedBy>
  <cp:revision>1</cp:revision>
  <dcterms:created xsi:type="dcterms:W3CDTF">2026-07-02T17:51:49Z</dcterms:created>
  <dcterms:modified xsi:type="dcterms:W3CDTF">2026-07-02T17:51:49Z</dcterms:modified>
</cp:coreProperties>
</file>