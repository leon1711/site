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Metodologia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Governança, Projetos e Mudança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 ·  GMO  ·  PM&amp;GO   —   Framework + Roadmap + Diagnóstico, na mesma régua de maturidade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5943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Uso comercial e de consultoria · material exclusivo Obliant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LER ESTE MATERIAL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Cada produto segue a mesma estrutura de 5 blocos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sequência A–E se repete em EPP, GMO e PM&amp;GO — leia qualquer frente da mesma forma.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85800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Framework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Objetivo, escopo, pilares e entregáveis do produto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812694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49854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949854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49854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organizadas por nível de maturidade — uma jornada, não uma lista de serviços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76749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3909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5213909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Maturidade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3909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régua única de 5 níveis aplicada à frente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40803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77963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477963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77963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que posiciona o cliente na régua e devolve o roadmap recomendado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604858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42018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742018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RACI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742018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Papéis e responsabilidades entre Obliant, cliente e estruturas de governança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Framework + Roadmap + Diagnóstico são três camadas distintas que se empilham — não a mesma coisa com nomes diferentes.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ARQUITETURA DA METODOLOGIA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Três produtos, uma metodologia, uma régua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entrega · GMO adota · PM&amp;GO integra — todos posicionados na mesma régua de maturidade de 5 níveis.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1434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65960"/>
            <a:ext cx="3514344" cy="73152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48840"/>
            <a:ext cx="3148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2404872"/>
            <a:ext cx="31485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EPP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" y="2880360"/>
            <a:ext cx="3148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Escritório de Projetos e Processos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3246120"/>
            <a:ext cx="31485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Estrutura, controla e entrega: método, portfólio, processos e indicadores.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EPP é o produto; quem o opera é um PMO (time/estrutura).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37304" y="1965960"/>
            <a:ext cx="351434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37304" y="1965960"/>
            <a:ext cx="3514344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4520184" y="2148840"/>
            <a:ext cx="3148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20184" y="2404872"/>
            <a:ext cx="31485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20184" y="2880360"/>
            <a:ext cx="3148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de Projetos e Mudança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20184" y="3246120"/>
            <a:ext cx="31485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 um projeto combinando EPP (entrega) + GMO (adoção).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20184" y="402336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exclusivo: modo de atuação da Obliant — Suporte → Controle → Diretivo.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125968" y="1965960"/>
            <a:ext cx="351434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25968" y="1965960"/>
            <a:ext cx="3514344" cy="73152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24" name="Text 22"/>
          <p:cNvSpPr/>
          <p:nvPr/>
        </p:nvSpPr>
        <p:spPr>
          <a:xfrm>
            <a:off x="8308848" y="2148840"/>
            <a:ext cx="3148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ADOÇÃO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308848" y="2404872"/>
            <a:ext cx="31485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308848" y="2880360"/>
            <a:ext cx="3148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da Mudança Organizacional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08848" y="3246120"/>
            <a:ext cx="31485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Trata o lado humano da transformação — adoção e sustentação.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08848" y="402336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 proprietários Obliant. Referências de mercado (ADKAR, Kotter, ACMP, SAP/Oracle OCM) apenas como base conceitual.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8640" y="48920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RÉGUA ÚNICA DE MATURIDADE — compartilhada pelas três frentes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 · Inicial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8368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794406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04134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 · Emergente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904134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5040173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49901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 · Estruturado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149901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7285939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95667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 · Integrado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395667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9531706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41434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 · Excelência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641434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EPP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Escritório de Projetos e Processos  —  Entrega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Estrutura, controla e entrega: método, portfólio, processos e indicadores.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 — objetivo, pilares e entregáveis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 à organização capacidade estável de priorizar, executar e medir projetos e processos — operado por um PMO.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Método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00025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200025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Portfólio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5186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4" name="Text 12"/>
          <p:cNvSpPr/>
          <p:nvPr/>
        </p:nvSpPr>
        <p:spPr>
          <a:xfrm>
            <a:off x="345186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Processos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0347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6" name="Text 14"/>
          <p:cNvSpPr/>
          <p:nvPr/>
        </p:nvSpPr>
        <p:spPr>
          <a:xfrm>
            <a:off x="490347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Indicadores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2148840"/>
            <a:ext cx="514807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2221992"/>
            <a:ext cx="4919472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Portfólio priorizado de iniciativas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de gestão de projetos (ciclo de vida + templates)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Mapa e redesenho de processos críticos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de governança (ritos, alçadas e comitês)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de indicadores de entrega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de gestão de riscos e mudanças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8640" y="361188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DIMENSÕES DO FRAMEWORK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Estratégia &amp; Portfólio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8368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Seleção e priorização de iniciativas conectadas à estratégia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367278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7006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77006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&amp; Métodos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7006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Ciclo de vida, práticas e templates de gestão de projetos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185916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95644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95644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Processos &amp; Fluxos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95644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Mapeamento, redesenho e padronização de processos de negócio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004554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14282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114282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&amp; Papéis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114282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Ritos, alçadas, comitês e papéis de decisão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8640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58368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&amp; Desempenho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58368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KPIs de entrega, painéis e rotina de gestão à vista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367278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77006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477006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Ferramentas &amp; Tecnologia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477006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Plataformas de gestão, automação e integração de dados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185916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95644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295644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Pessoas &amp; Competências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95644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Capacidades do time de projetos e trilhas de desenvolvimento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9004554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14282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114282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Riscos &amp; Qualidade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14282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riscos, mudanças de escopo e garantia de qualidade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 — iniciativas por nível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Jornada de evolução, não lista de serviços: o assessment aponta a coluna atual; a seguinte é o plano recomendado.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58368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Inventário de projetos e processos existentes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676656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de patrocínio e papéis mínimos de gestão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676656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Padrão único de status report para iniciativas prioritárias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676656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wins de padronização (templates essenciais)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676656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Canvas de escopo para os projetos críticos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2799893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99893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24" name="Text 22"/>
          <p:cNvSpPr/>
          <p:nvPr/>
        </p:nvSpPr>
        <p:spPr>
          <a:xfrm>
            <a:off x="2909621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2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909621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927909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7" name="Text 25"/>
          <p:cNvSpPr/>
          <p:nvPr/>
        </p:nvSpPr>
        <p:spPr>
          <a:xfrm>
            <a:off x="3055925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básica de projetos (ciclo de vida em fases)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2927909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9" name="Text 27"/>
          <p:cNvSpPr/>
          <p:nvPr/>
        </p:nvSpPr>
        <p:spPr>
          <a:xfrm>
            <a:off x="3055925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de templates: TAP, cronograma, matriz de riscos, status report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2927909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1" name="Text 29"/>
          <p:cNvSpPr/>
          <p:nvPr/>
        </p:nvSpPr>
        <p:spPr>
          <a:xfrm>
            <a:off x="3055925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 de acompanhamento (reunião de status e comitê mensal)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2927909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3" name="Text 31"/>
          <p:cNvSpPr/>
          <p:nvPr/>
        </p:nvSpPr>
        <p:spPr>
          <a:xfrm>
            <a:off x="3055925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 dos processos críticos (AS-IS)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2927909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5" name="Text 33"/>
          <p:cNvSpPr/>
          <p:nvPr/>
        </p:nvSpPr>
        <p:spPr>
          <a:xfrm>
            <a:off x="3055925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essenciais de prazo e custo por projeto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5051146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51146" y="1920240"/>
            <a:ext cx="2086661" cy="566928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38" name="Text 36"/>
          <p:cNvSpPr/>
          <p:nvPr/>
        </p:nvSpPr>
        <p:spPr>
          <a:xfrm>
            <a:off x="5160874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3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160874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179162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1" name="Text 39"/>
          <p:cNvSpPr/>
          <p:nvPr/>
        </p:nvSpPr>
        <p:spPr>
          <a:xfrm>
            <a:off x="5307178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portfólio com critérios de priorização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5179162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3" name="Text 41"/>
          <p:cNvSpPr/>
          <p:nvPr/>
        </p:nvSpPr>
        <p:spPr>
          <a:xfrm>
            <a:off x="5307178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Formalização do PMO (mandato, time e cadência)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5179162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5" name="Text 43"/>
          <p:cNvSpPr/>
          <p:nvPr/>
        </p:nvSpPr>
        <p:spPr>
          <a:xfrm>
            <a:off x="5307178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estruturada de riscos e mudanças de escopo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5179162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7" name="Text 45"/>
          <p:cNvSpPr/>
          <p:nvPr/>
        </p:nvSpPr>
        <p:spPr>
          <a:xfrm>
            <a:off x="5307178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Redesenho dos processos críticos (TO-BE) com donos definidos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5179162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9" name="Text 47"/>
          <p:cNvSpPr/>
          <p:nvPr/>
        </p:nvSpPr>
        <p:spPr>
          <a:xfrm>
            <a:off x="5307178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executivo de indicadores de entrega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7302398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02398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52" name="Text 50"/>
          <p:cNvSpPr/>
          <p:nvPr/>
        </p:nvSpPr>
        <p:spPr>
          <a:xfrm>
            <a:off x="7412126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412126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430414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5" name="Text 53"/>
          <p:cNvSpPr/>
          <p:nvPr/>
        </p:nvSpPr>
        <p:spPr>
          <a:xfrm>
            <a:off x="7558430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 portfólio ↔ orçamento e planejamento anual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7430414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7" name="Text 55"/>
          <p:cNvSpPr/>
          <p:nvPr/>
        </p:nvSpPr>
        <p:spPr>
          <a:xfrm>
            <a:off x="7558430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capacidade e alocação de recursos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7430414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9" name="Text 57"/>
          <p:cNvSpPr/>
          <p:nvPr/>
        </p:nvSpPr>
        <p:spPr>
          <a:xfrm>
            <a:off x="7558430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Automação de fluxos de trabalho e coleta de indicadores</a:t>
            </a:r>
            <a:endParaRPr lang="en-US" sz="760" dirty="0"/>
          </a:p>
        </p:txBody>
      </p:sp>
      <p:sp>
        <p:nvSpPr>
          <p:cNvPr id="60" name="Shape 58"/>
          <p:cNvSpPr/>
          <p:nvPr/>
        </p:nvSpPr>
        <p:spPr>
          <a:xfrm>
            <a:off x="7430414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1" name="Text 59"/>
          <p:cNvSpPr/>
          <p:nvPr/>
        </p:nvSpPr>
        <p:spPr>
          <a:xfrm>
            <a:off x="7558430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benefícios: metas de valor por iniciativa</a:t>
            </a:r>
            <a:endParaRPr lang="en-US" sz="760" dirty="0"/>
          </a:p>
        </p:txBody>
      </p:sp>
      <p:sp>
        <p:nvSpPr>
          <p:cNvPr id="62" name="Shape 60"/>
          <p:cNvSpPr/>
          <p:nvPr/>
        </p:nvSpPr>
        <p:spPr>
          <a:xfrm>
            <a:off x="7430414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3" name="Text 61"/>
          <p:cNvSpPr/>
          <p:nvPr/>
        </p:nvSpPr>
        <p:spPr>
          <a:xfrm>
            <a:off x="7558430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Auditorias periódicas de qualidade de método</a:t>
            </a:r>
            <a:endParaRPr lang="en-US" sz="760" dirty="0"/>
          </a:p>
        </p:txBody>
      </p:sp>
      <p:sp>
        <p:nvSpPr>
          <p:cNvPr id="64" name="Shape 62"/>
          <p:cNvSpPr/>
          <p:nvPr/>
        </p:nvSpPr>
        <p:spPr>
          <a:xfrm>
            <a:off x="9553651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53651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66" name="Text 64"/>
          <p:cNvSpPr/>
          <p:nvPr/>
        </p:nvSpPr>
        <p:spPr>
          <a:xfrm>
            <a:off x="9663379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5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9663379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9681667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9" name="Text 67"/>
          <p:cNvSpPr/>
          <p:nvPr/>
        </p:nvSpPr>
        <p:spPr>
          <a:xfrm>
            <a:off x="9809683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por valor: portfólio dirigido por benefícios realizados</a:t>
            </a:r>
            <a:endParaRPr lang="en-US" sz="760" dirty="0"/>
          </a:p>
        </p:txBody>
      </p:sp>
      <p:sp>
        <p:nvSpPr>
          <p:cNvPr id="70" name="Shape 68"/>
          <p:cNvSpPr/>
          <p:nvPr/>
        </p:nvSpPr>
        <p:spPr>
          <a:xfrm>
            <a:off x="9681667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1" name="Text 69"/>
          <p:cNvSpPr/>
          <p:nvPr/>
        </p:nvSpPr>
        <p:spPr>
          <a:xfrm>
            <a:off x="9809683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preditivo de prazo, custo e risco</a:t>
            </a:r>
            <a:endParaRPr lang="en-US" sz="760" dirty="0"/>
          </a:p>
        </p:txBody>
      </p:sp>
      <p:sp>
        <p:nvSpPr>
          <p:cNvPr id="72" name="Shape 70"/>
          <p:cNvSpPr/>
          <p:nvPr/>
        </p:nvSpPr>
        <p:spPr>
          <a:xfrm>
            <a:off x="9681667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3" name="Text 71"/>
          <p:cNvSpPr/>
          <p:nvPr/>
        </p:nvSpPr>
        <p:spPr>
          <a:xfrm>
            <a:off x="9809683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institucionalizada do método</a:t>
            </a:r>
            <a:endParaRPr lang="en-US" sz="760" dirty="0"/>
          </a:p>
        </p:txBody>
      </p:sp>
      <p:sp>
        <p:nvSpPr>
          <p:cNvPr id="74" name="Shape 72"/>
          <p:cNvSpPr/>
          <p:nvPr/>
        </p:nvSpPr>
        <p:spPr>
          <a:xfrm>
            <a:off x="9681667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5" name="Text 73"/>
          <p:cNvSpPr/>
          <p:nvPr/>
        </p:nvSpPr>
        <p:spPr>
          <a:xfrm>
            <a:off x="9809683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Inovação de práticas (ágil, híbrido, IA aplicada à gestão)</a:t>
            </a:r>
            <a:endParaRPr lang="en-US" sz="760" dirty="0"/>
          </a:p>
        </p:txBody>
      </p:sp>
      <p:sp>
        <p:nvSpPr>
          <p:cNvPr id="76" name="Shape 74"/>
          <p:cNvSpPr/>
          <p:nvPr/>
        </p:nvSpPr>
        <p:spPr>
          <a:xfrm>
            <a:off x="9681667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7" name="Text 75"/>
          <p:cNvSpPr/>
          <p:nvPr/>
        </p:nvSpPr>
        <p:spPr>
          <a:xfrm>
            <a:off x="9809683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externo e certificação de excelência</a:t>
            </a:r>
            <a:endParaRPr lang="en-US" sz="7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Mapa de maturidade — régua única de 5 níveis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mesma escala das três frentes: posicione o cliente aqui e leia o roadmap a partir do nível seguinte.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207203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70332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38496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76656" y="432511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" y="463600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76656" y="5093208"/>
            <a:ext cx="181599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conduzidas caso a caso, sem método comum. Resultados dependem de esforço individual; pouca visibilidade e previsibilidade.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03550" y="3291840"/>
            <a:ext cx="2072030" cy="233172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03550" y="329184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6" name="Text 14"/>
          <p:cNvSpPr/>
          <p:nvPr/>
        </p:nvSpPr>
        <p:spPr>
          <a:xfrm>
            <a:off x="2931566" y="343814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931566" y="391363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931566" y="422452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1566" y="4681728"/>
            <a:ext cx="1815998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Métodos e papéis básicos existem, mas a aplicação é inconsistente entre áreas e projetos. Padrões começam a se formar.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58461" y="2880360"/>
            <a:ext cx="2072030" cy="274320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8461" y="288036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2" name="Text 20"/>
          <p:cNvSpPr/>
          <p:nvPr/>
        </p:nvSpPr>
        <p:spPr>
          <a:xfrm>
            <a:off x="5186477" y="302666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86477" y="350215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86477" y="381304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186477" y="4270248"/>
            <a:ext cx="1815998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único, papéis claros e ritos de governança operando. A organização executa de forma consistente e comparável.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313371" y="2468880"/>
            <a:ext cx="2072030" cy="315468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3371" y="246888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8" name="Text 26"/>
          <p:cNvSpPr/>
          <p:nvPr/>
        </p:nvSpPr>
        <p:spPr>
          <a:xfrm>
            <a:off x="7441387" y="261518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41387" y="309067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41387" y="340156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41387" y="3858768"/>
            <a:ext cx="1815998" cy="1636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Disciplinas conectadas entre si e ao planejamento da organização. Decisões apoiadas por indicadores; capacidade e portfólio geridos em conjunto.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568282" y="2057400"/>
            <a:ext cx="2072030" cy="3566160"/>
          </a:xfrm>
          <a:prstGeom prst="roundRect">
            <a:avLst>
              <a:gd name="adj" fmla="val 2648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68282" y="205740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4" name="Text 32"/>
          <p:cNvSpPr/>
          <p:nvPr/>
        </p:nvSpPr>
        <p:spPr>
          <a:xfrm>
            <a:off x="9696298" y="220370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696298" y="267919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96298" y="299008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9696298" y="3447288"/>
            <a:ext cx="1815998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disciplina é vantagem competitiva: melhoria contínua institucionalizada, análise preditiva e referência externa (benchmark).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 — fluxo do diagnóstico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Avalie cada dimensão de 1 (inexistente/ad hoc) a 5 (excelência). O resultado posiciona o cliente na régua e recomenda as iniciativas do próximo nível.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dimensões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avaliadas 1–5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7063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médio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 régua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2239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85216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Detalhamento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dimensão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7415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0392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998D67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do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próximo nível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1 · METODOLOGIA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85800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Existe um método único de gestão de projetos, com ciclo de vida e templates, aplicado de forma consistente?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06824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43984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2 · PORTFÓLIO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443984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iniciativas são priorizadas com critérios claros e conectadas à estratégia?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065008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02168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3 · PROCESSOS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02168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processos críticos estão mapeados, padronizados e têm donos definidos?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4 · GOVERNANÇA &amp; PAPÉIS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85800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Ritos, comitês e alçadas de decisão funcionam com cadência e consequência?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306824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43984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5 · INDICADORES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443984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entrega é medida por indicadores confiáveis, usados de fato na tomada de decisão?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65008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02168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6 · FERRAMENTAS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02168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plataformas de gestão sustentam o método e dão visibilidade integrada do portfólio?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 — papéis e responsabilidades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 Responsável · A Aprovador · C Consultado · I Informado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395374"/>
                <a:gridCol w="1395374"/>
                <a:gridCol w="1395374"/>
                <a:gridCol w="1395374"/>
                <a:gridCol w="139537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Atividade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Obliant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PMO (cliente)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Sponsor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Gestores de área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Equipes de projeto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Desenho do método e do modelo de governança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Priorização do portfólio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Condução dos ritos de acompanhamento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Mapeamento e redesenho de processos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Gestão de riscos e mudanças de escopo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Painel de indicadores e gestão à vista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Evolução contínua do método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da Mudança Organizacional  —  Adoção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Trata o lado humano da transformação — adoção e sustentação.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 — objetivo, pilares e entregáveis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Garantir que as pessoas adotem e sustentem a transformação — reduzindo resistência e acelerando o retorno das iniciativas.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Diagnosticar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09928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1709928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Preparar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871216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4" name="Text 12"/>
          <p:cNvSpPr/>
          <p:nvPr/>
        </p:nvSpPr>
        <p:spPr>
          <a:xfrm>
            <a:off x="2871216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Engajar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032504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6" name="Text 14"/>
          <p:cNvSpPr/>
          <p:nvPr/>
        </p:nvSpPr>
        <p:spPr>
          <a:xfrm>
            <a:off x="4032504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Capacitar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193792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193792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Sustentar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48640" y="269748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conceitual: ADKAR, Kotter, ACMP, SAP/Oracle OCM.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92240" y="2148840"/>
            <a:ext cx="514807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2221992"/>
            <a:ext cx="4919472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Readiness Assessment (prontidão para mudança)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Assessment (avaliação de impactos organizacionais)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Estratégia de stakeholders &amp; plano de comunicação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capacitação e treinamento por perfil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gestão de resistências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de métricas de adoção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sustentação e reforço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48640" y="361188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DIMENSÕES DO FRAMEWORK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8368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Patrocínio &amp; Liderança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8368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Sponsors ativos e coalizão de líderes visíveis na mudança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367278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7006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77006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Prontidão para Mudança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477006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readiness: histórico, cultura e disposição da organização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185916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95644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95644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Impactos Organizacionais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95644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assessment: o que muda para quem, em processo, sistema e papel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9004554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14282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114282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Stakeholders &amp; Comunicação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9114282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 de públicos e estratégia de comunicação segmentada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48640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58368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Capacitação &amp; Treinamento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58368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Trilhas de treinamento por perfil e avaliação de aprendizagem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367278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77006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77006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Resistências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3477006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Identificação, escuta e tratamento ativo de resistências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185916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95644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295644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Adoção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295644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de uso, adesão e comportamento pós-implantação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9004554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14282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9114282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Sustentação &amp; Reforço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9114282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Mecanismos de reforço para a mudança não regredir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 — iniciativas por nível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Jornada de evolução, não lista de serviços: o assessment aponta a coluna atual; a seguinte é o plano recomendado.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58368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 inicial de stakeholders e públicos impactados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676656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Avaliação de prontidão para mudança (change readiness)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676656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Alinhamento e ativação do patrocínio executivo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676656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Comunicação de partida (kick-off) da transformação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676656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Levantamento do histórico de mudanças da organização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2799893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99893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24" name="Text 22"/>
          <p:cNvSpPr/>
          <p:nvPr/>
        </p:nvSpPr>
        <p:spPr>
          <a:xfrm>
            <a:off x="2909621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2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909621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927909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7" name="Text 25"/>
          <p:cNvSpPr/>
          <p:nvPr/>
        </p:nvSpPr>
        <p:spPr>
          <a:xfrm>
            <a:off x="3055925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comunicação estruturado por público e canal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2927909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9" name="Text 27"/>
          <p:cNvSpPr/>
          <p:nvPr/>
        </p:nvSpPr>
        <p:spPr>
          <a:xfrm>
            <a:off x="3055925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Avaliação de impactos organizacionais (impact assessment)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2927909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1" name="Text 29"/>
          <p:cNvSpPr/>
          <p:nvPr/>
        </p:nvSpPr>
        <p:spPr>
          <a:xfrm>
            <a:off x="3055925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Formação da rede de agentes de mudança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2927909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3" name="Text 31"/>
          <p:cNvSpPr/>
          <p:nvPr/>
        </p:nvSpPr>
        <p:spPr>
          <a:xfrm>
            <a:off x="3055925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engajamento de lideranças intermediárias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2927909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5" name="Text 33"/>
          <p:cNvSpPr/>
          <p:nvPr/>
        </p:nvSpPr>
        <p:spPr>
          <a:xfrm>
            <a:off x="3055925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Canais de escuta e FAQ vivos da transformação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5051146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51146" y="1920240"/>
            <a:ext cx="2086661" cy="566928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38" name="Text 36"/>
          <p:cNvSpPr/>
          <p:nvPr/>
        </p:nvSpPr>
        <p:spPr>
          <a:xfrm>
            <a:off x="5160874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3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160874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179162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1" name="Text 39"/>
          <p:cNvSpPr/>
          <p:nvPr/>
        </p:nvSpPr>
        <p:spPr>
          <a:xfrm>
            <a:off x="5307178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Estratégia integrada de stakeholders com plano por segmento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5179162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3" name="Text 41"/>
          <p:cNvSpPr/>
          <p:nvPr/>
        </p:nvSpPr>
        <p:spPr>
          <a:xfrm>
            <a:off x="5307178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Trilhas de capacitação por perfil e papel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5179162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5" name="Text 43"/>
          <p:cNvSpPr/>
          <p:nvPr/>
        </p:nvSpPr>
        <p:spPr>
          <a:xfrm>
            <a:off x="5307178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ativa de resistências (identificação e tratamento)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5179162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7" name="Text 45"/>
          <p:cNvSpPr/>
          <p:nvPr/>
        </p:nvSpPr>
        <p:spPr>
          <a:xfrm>
            <a:off x="5307178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Rituais de reforço com lideranças e times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5179162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9" name="Text 47"/>
          <p:cNvSpPr/>
          <p:nvPr/>
        </p:nvSpPr>
        <p:spPr>
          <a:xfrm>
            <a:off x="5307178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Pesquisa de pulso periódica de engajamento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7302398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02398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52" name="Text 50"/>
          <p:cNvSpPr/>
          <p:nvPr/>
        </p:nvSpPr>
        <p:spPr>
          <a:xfrm>
            <a:off x="7412126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412126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430414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5" name="Text 53"/>
          <p:cNvSpPr/>
          <p:nvPr/>
        </p:nvSpPr>
        <p:spPr>
          <a:xfrm>
            <a:off x="7558430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adoção e uso integradas aos projetos (gates de adoção)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7430414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7" name="Text 55"/>
          <p:cNvSpPr/>
          <p:nvPr/>
        </p:nvSpPr>
        <p:spPr>
          <a:xfrm>
            <a:off x="7558430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Programa de champions e multiplicadores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7430414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9" name="Text 57"/>
          <p:cNvSpPr/>
          <p:nvPr/>
        </p:nvSpPr>
        <p:spPr>
          <a:xfrm>
            <a:off x="7558430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de sustentação pós-implantação</a:t>
            </a:r>
            <a:endParaRPr lang="en-US" sz="760" dirty="0"/>
          </a:p>
        </p:txBody>
      </p:sp>
      <p:sp>
        <p:nvSpPr>
          <p:cNvPr id="60" name="Shape 58"/>
          <p:cNvSpPr/>
          <p:nvPr/>
        </p:nvSpPr>
        <p:spPr>
          <a:xfrm>
            <a:off x="7430414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1" name="Text 59"/>
          <p:cNvSpPr/>
          <p:nvPr/>
        </p:nvSpPr>
        <p:spPr>
          <a:xfrm>
            <a:off x="7558430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Ciclo de feedback estruturado com ajustes de rota</a:t>
            </a:r>
            <a:endParaRPr lang="en-US" sz="760" dirty="0"/>
          </a:p>
        </p:txBody>
      </p:sp>
      <p:sp>
        <p:nvSpPr>
          <p:cNvPr id="62" name="Shape 60"/>
          <p:cNvSpPr/>
          <p:nvPr/>
        </p:nvSpPr>
        <p:spPr>
          <a:xfrm>
            <a:off x="7430414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3" name="Text 61"/>
          <p:cNvSpPr/>
          <p:nvPr/>
        </p:nvSpPr>
        <p:spPr>
          <a:xfrm>
            <a:off x="7558430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 da GMO ao ciclo de vida de todo projeto</a:t>
            </a:r>
            <a:endParaRPr lang="en-US" sz="760" dirty="0"/>
          </a:p>
        </p:txBody>
      </p:sp>
      <p:sp>
        <p:nvSpPr>
          <p:cNvPr id="64" name="Shape 62"/>
          <p:cNvSpPr/>
          <p:nvPr/>
        </p:nvSpPr>
        <p:spPr>
          <a:xfrm>
            <a:off x="9553651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53651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66" name="Text 64"/>
          <p:cNvSpPr/>
          <p:nvPr/>
        </p:nvSpPr>
        <p:spPr>
          <a:xfrm>
            <a:off x="9663379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5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9663379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9681667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9" name="Text 67"/>
          <p:cNvSpPr/>
          <p:nvPr/>
        </p:nvSpPr>
        <p:spPr>
          <a:xfrm>
            <a:off x="9809683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Cultura de mudança contínua institucionalizada</a:t>
            </a:r>
            <a:endParaRPr lang="en-US" sz="760" dirty="0"/>
          </a:p>
        </p:txBody>
      </p:sp>
      <p:sp>
        <p:nvSpPr>
          <p:cNvPr id="70" name="Shape 68"/>
          <p:cNvSpPr/>
          <p:nvPr/>
        </p:nvSpPr>
        <p:spPr>
          <a:xfrm>
            <a:off x="9681667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1" name="Text 69"/>
          <p:cNvSpPr/>
          <p:nvPr/>
        </p:nvSpPr>
        <p:spPr>
          <a:xfrm>
            <a:off x="9809683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Capacidade interna de OCM formada e autônoma</a:t>
            </a:r>
            <a:endParaRPr lang="en-US" sz="760" dirty="0"/>
          </a:p>
        </p:txBody>
      </p:sp>
      <p:sp>
        <p:nvSpPr>
          <p:cNvPr id="72" name="Shape 70"/>
          <p:cNvSpPr/>
          <p:nvPr/>
        </p:nvSpPr>
        <p:spPr>
          <a:xfrm>
            <a:off x="9681667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3" name="Text 71"/>
          <p:cNvSpPr/>
          <p:nvPr/>
        </p:nvSpPr>
        <p:spPr>
          <a:xfrm>
            <a:off x="9809683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 preditiva de adoção e risco de regressão</a:t>
            </a:r>
            <a:endParaRPr lang="en-US" sz="760" dirty="0"/>
          </a:p>
        </p:txBody>
      </p:sp>
      <p:sp>
        <p:nvSpPr>
          <p:cNvPr id="74" name="Shape 72"/>
          <p:cNvSpPr/>
          <p:nvPr/>
        </p:nvSpPr>
        <p:spPr>
          <a:xfrm>
            <a:off x="9681667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5" name="Text 73"/>
          <p:cNvSpPr/>
          <p:nvPr/>
        </p:nvSpPr>
        <p:spPr>
          <a:xfrm>
            <a:off x="9809683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Comunidade de prática de gestão da mudança</a:t>
            </a:r>
            <a:endParaRPr lang="en-US" sz="760" dirty="0"/>
          </a:p>
        </p:txBody>
      </p:sp>
      <p:sp>
        <p:nvSpPr>
          <p:cNvPr id="76" name="Shape 74"/>
          <p:cNvSpPr/>
          <p:nvPr/>
        </p:nvSpPr>
        <p:spPr>
          <a:xfrm>
            <a:off x="9681667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7" name="Text 75"/>
          <p:cNvSpPr/>
          <p:nvPr/>
        </p:nvSpPr>
        <p:spPr>
          <a:xfrm>
            <a:off x="9809683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do método com benchmark externo</a:t>
            </a:r>
            <a:endParaRPr lang="en-US" sz="7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Mapa de maturidade — régua única de 5 níveis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mesma escala das três frentes: posicione o cliente aqui e leia o roadmap a partir do nível seguinte.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207203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70332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38496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76656" y="432511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" y="463600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76656" y="5093208"/>
            <a:ext cx="181599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conduzidas caso a caso, sem método comum. Resultados dependem de esforço individual; pouca visibilidade e previsibilidade.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03550" y="3291840"/>
            <a:ext cx="2072030" cy="233172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03550" y="329184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6" name="Text 14"/>
          <p:cNvSpPr/>
          <p:nvPr/>
        </p:nvSpPr>
        <p:spPr>
          <a:xfrm>
            <a:off x="2931566" y="343814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931566" y="391363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931566" y="422452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1566" y="4681728"/>
            <a:ext cx="1815998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Métodos e papéis básicos existem, mas a aplicação é inconsistente entre áreas e projetos. Padrões começam a se formar.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58461" y="2880360"/>
            <a:ext cx="2072030" cy="274320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8461" y="288036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2" name="Text 20"/>
          <p:cNvSpPr/>
          <p:nvPr/>
        </p:nvSpPr>
        <p:spPr>
          <a:xfrm>
            <a:off x="5186477" y="302666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86477" y="350215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86477" y="381304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186477" y="4270248"/>
            <a:ext cx="1815998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único, papéis claros e ritos de governança operando. A organização executa de forma consistente e comparável.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313371" y="2468880"/>
            <a:ext cx="2072030" cy="315468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3371" y="246888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8" name="Text 26"/>
          <p:cNvSpPr/>
          <p:nvPr/>
        </p:nvSpPr>
        <p:spPr>
          <a:xfrm>
            <a:off x="7441387" y="261518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41387" y="309067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41387" y="340156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41387" y="3858768"/>
            <a:ext cx="1815998" cy="1636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Disciplinas conectadas entre si e ao planejamento da organização. Decisões apoiadas por indicadores; capacidade e portfólio geridos em conjunto.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568282" y="2057400"/>
            <a:ext cx="2072030" cy="3566160"/>
          </a:xfrm>
          <a:prstGeom prst="roundRect">
            <a:avLst>
              <a:gd name="adj" fmla="val 2648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68282" y="205740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4" name="Text 32"/>
          <p:cNvSpPr/>
          <p:nvPr/>
        </p:nvSpPr>
        <p:spPr>
          <a:xfrm>
            <a:off x="9696298" y="220370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696298" y="267919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96298" y="299008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9696298" y="3447288"/>
            <a:ext cx="1815998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disciplina é vantagem competitiva: melhoria contínua institucionalizada, análise preditiva e referência externa (benchmark).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 — fluxo do diagnóstico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Avalie cada dimensão de 1 (inexistente/ad hoc) a 5 (excelência). O resultado posiciona o cliente na régua e recomenda as iniciativas do próximo nível.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dimensões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avaliadas 1–5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7063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médio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 régua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2239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85216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Detalhamento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dimensão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7415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0392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998D67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do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próximo nível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1 · PATROCÍNIO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85800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sponsors são ativos e visíveis, dedicando tempo real à mudança?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06824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43984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2 · COMUNICAÇÃO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443984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comunicação é planejada por público, com canais definidos e mensagem consistente?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065008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02168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3 · IMPACTOS &amp; PRONTIDÃO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02168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impactos da mudança são avaliados formalmente e a prontidão da organização é conhecida?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4 · CAPACITAÇÃO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85800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Existem trilhas de treinamento por perfil, com avaliação de aprendizagem?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306824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43984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5 · RESISTÊNCIAS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443984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resistências são identificadas e tratadas de forma ativa e estruturada?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65008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02168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6 · ADOÇÃO &amp; SUSTENTAÇÃO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02168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adoção é medida após a implantação e existem mecanismos de reforço?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 — papéis e responsabilidades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 Responsável · A Aprovador · C Consultado · I Informado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395374"/>
                <a:gridCol w="1395374"/>
                <a:gridCol w="1395374"/>
                <a:gridCol w="1395374"/>
                <a:gridCol w="139537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Atividade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Obliant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 GMO (cliente)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Sponsor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Líderes / Gestores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Colaboradores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Change readiness e avaliação de impactos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Estratégia de stakeholders e comunicação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Execução do plano de comunicação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Capacitação e treinamento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Gestão de resistências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Medição de adoção e sustentação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Ativação e coaching de sponsors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de Projetos e Mudança  —  Integração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 um projeto combinando EPP (entrega) + GMO (adoção).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 — objetivo, pilares e entregáveis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Governar um projeto crítico de ponta a ponta, unindo a disciplina de entrega (EPP) e a disciplina de adoção (GMO) sob uma única governança.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Entrega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00025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200025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Adoção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5186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4" name="Text 12"/>
          <p:cNvSpPr/>
          <p:nvPr/>
        </p:nvSpPr>
        <p:spPr>
          <a:xfrm>
            <a:off x="345186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Governança única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0347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6" name="Text 14"/>
          <p:cNvSpPr/>
          <p:nvPr/>
        </p:nvSpPr>
        <p:spPr>
          <a:xfrm>
            <a:off x="490347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Modo de atuação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2148840"/>
            <a:ext cx="514807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2221992"/>
            <a:ext cx="4919472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de governança integrada do projeto   [COMP.]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integrado de projeto (escopo, prazo, custo)   [PMO]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Matriz integrada de riscos (entrega + adoção)   [COMP.]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assessment e plano de adoção   [GMO]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comunicação e stakeholders do projeto   [GMO]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duplo: entrega × adoção   [COMP.]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Controle de escopo, cronograma e custos   [PMO]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do modo de atuação (Suporte/Controle/Diretivo)   [COMP.]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8640" y="361188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DIMENSÕES DO FRAMEWORK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8368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 único modelo de decisão para entrega e adoção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367278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7006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77006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Planejamento &amp; Entrega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7006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Escopo, prazo, custo e qualidade do projeto (lado EPP)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185916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95644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95644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Adoção &amp; Pessoas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95644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Prontidão, engajamento e sustentação (lado GMO)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004554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14282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114282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Patrocínio Executivo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114282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Sponsor único respondendo pelos dois eixos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8640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58368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Stakeholders &amp; Comunicação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58368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compartilhada de públicos e mensagens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367278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77006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477006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Riscos Integrados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477006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Riscos de entrega e riscos de adoção na mesma matriz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185916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95644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295644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Duplos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95644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único: % de entrega × % de adoção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9004554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14282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114282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Modo de Atuação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14282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Intensidade Obliant: Suporte, Controle ou Diretivo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PMO × GMO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que é do PMO, o que é do GMO, o que é compartilhado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entregável e atividade do PM&amp;GO é etiquetado (PMO / GMO / compartilhado) para a divisão PMO × GMO ser operacional, não só conceitual.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206240" y="1920240"/>
            <a:ext cx="2103120" cy="2103120"/>
          </a:xfrm>
          <a:prstGeom prst="ellipse">
            <a:avLst/>
          </a:prstGeom>
          <a:solidFill>
            <a:srgbClr val="4A5C72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806440" y="1920240"/>
            <a:ext cx="2103120" cy="2103120"/>
          </a:xfrm>
          <a:prstGeom prst="ellipse">
            <a:avLst/>
          </a:prstGeom>
          <a:solidFill>
            <a:srgbClr val="998D67">
              <a:alpha val="82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26974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6974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94960" y="278892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COMPARTILHADO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548640" y="4251960"/>
            <a:ext cx="3544824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" y="434340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SÓ PMO — ENTREGA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94944" y="4617720"/>
            <a:ext cx="325221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Escopo, prazo e custo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Cronograma e dependências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riscos de entrega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Qualidade e aceite técnico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fornecedores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4322064" y="4251960"/>
            <a:ext cx="3544824" cy="1828800"/>
          </a:xfrm>
          <a:prstGeom prst="roundRect">
            <a:avLst>
              <a:gd name="adj" fmla="val 3000"/>
            </a:avLst>
          </a:prstGeom>
          <a:solidFill>
            <a:srgbClr val="FBF9F2"/>
          </a:solidFill>
          <a:ln w="9525">
            <a:solidFill>
              <a:srgbClr val="998D6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68368" y="434340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COMPARTILHADO — GOVERNANÇA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468368" y="4617720"/>
            <a:ext cx="325221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e ritos do projeto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Patrocínio executivo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Mapa de stakeholders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entrega × adoção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de riscos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8095488" y="4251960"/>
            <a:ext cx="3544824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41792" y="434340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SÓ GMO — ADOÇÃO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41792" y="4617720"/>
            <a:ext cx="325221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Comunicação e engajamento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Impactos organizacionais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Capacitação e treinamento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resistências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adoção e sustentação</a:t>
            </a:r>
            <a:endParaRPr lang="en-US" sz="8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 — iniciativas por nível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Jornada de evolução, não lista de serviços: o assessment aponta a coluna atual; a seguinte é o plano recomendado.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58368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rápido do projeto: entrega e adoção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676656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de sponsor único e mandato da governança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676656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Mapa unificado de stakeholders do projeto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676656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 mínimos de governança integrada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676656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inicial do modo de atuação da Obliant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2799893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99893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24" name="Text 22"/>
          <p:cNvSpPr/>
          <p:nvPr/>
        </p:nvSpPr>
        <p:spPr>
          <a:xfrm>
            <a:off x="2909621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2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909621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927909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7" name="Text 25"/>
          <p:cNvSpPr/>
          <p:nvPr/>
        </p:nvSpPr>
        <p:spPr>
          <a:xfrm>
            <a:off x="3055925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integrado de projeto (entrega + adoção)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2927909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9" name="Text 27"/>
          <p:cNvSpPr/>
          <p:nvPr/>
        </p:nvSpPr>
        <p:spPr>
          <a:xfrm>
            <a:off x="3055925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Matriz de riscos unificada (entrega e adoção)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2927909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1" name="Text 29"/>
          <p:cNvSpPr/>
          <p:nvPr/>
        </p:nvSpPr>
        <p:spPr>
          <a:xfrm>
            <a:off x="3055925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comunicação do projeto por público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2927909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3" name="Text 31"/>
          <p:cNvSpPr/>
          <p:nvPr/>
        </p:nvSpPr>
        <p:spPr>
          <a:xfrm>
            <a:off x="3055925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Cadência de comitês com pauta dupla (entrega × adoção)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2927909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5" name="Text 33"/>
          <p:cNvSpPr/>
          <p:nvPr/>
        </p:nvSpPr>
        <p:spPr>
          <a:xfrm>
            <a:off x="3055925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Etiquetagem das atividades: PMO, GMO ou compartilhado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5051146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51146" y="1920240"/>
            <a:ext cx="2086661" cy="566928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38" name="Text 36"/>
          <p:cNvSpPr/>
          <p:nvPr/>
        </p:nvSpPr>
        <p:spPr>
          <a:xfrm>
            <a:off x="5160874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3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160874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179162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1" name="Text 39"/>
          <p:cNvSpPr/>
          <p:nvPr/>
        </p:nvSpPr>
        <p:spPr>
          <a:xfrm>
            <a:off x="5307178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duplo operante: % entrega × % adoção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5179162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3" name="Text 41"/>
          <p:cNvSpPr/>
          <p:nvPr/>
        </p:nvSpPr>
        <p:spPr>
          <a:xfrm>
            <a:off x="5307178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Gates de fase condicionados a critérios de adoção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5179162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5" name="Text 43"/>
          <p:cNvSpPr/>
          <p:nvPr/>
        </p:nvSpPr>
        <p:spPr>
          <a:xfrm>
            <a:off x="5307178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ativa de resistências dentro do projeto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5179162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7" name="Text 45"/>
          <p:cNvSpPr/>
          <p:nvPr/>
        </p:nvSpPr>
        <p:spPr>
          <a:xfrm>
            <a:off x="5307178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Trilhas de capacitação sincronizadas ao cronograma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5179162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9" name="Text 47"/>
          <p:cNvSpPr/>
          <p:nvPr/>
        </p:nvSpPr>
        <p:spPr>
          <a:xfrm>
            <a:off x="5307178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Revisão periódica do modo de atuação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7302398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02398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52" name="Text 50"/>
          <p:cNvSpPr/>
          <p:nvPr/>
        </p:nvSpPr>
        <p:spPr>
          <a:xfrm>
            <a:off x="7412126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412126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430414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5" name="Text 53"/>
          <p:cNvSpPr/>
          <p:nvPr/>
        </p:nvSpPr>
        <p:spPr>
          <a:xfrm>
            <a:off x="7558430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 do projeto ao portfólio e ao orçamento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7430414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7" name="Text 55"/>
          <p:cNvSpPr/>
          <p:nvPr/>
        </p:nvSpPr>
        <p:spPr>
          <a:xfrm>
            <a:off x="7558430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benefício: valor entregue × valor adotado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7430414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9" name="Text 57"/>
          <p:cNvSpPr/>
          <p:nvPr/>
        </p:nvSpPr>
        <p:spPr>
          <a:xfrm>
            <a:off x="7558430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Programa de champions dentro do projeto</a:t>
            </a:r>
            <a:endParaRPr lang="en-US" sz="760" dirty="0"/>
          </a:p>
        </p:txBody>
      </p:sp>
      <p:sp>
        <p:nvSpPr>
          <p:cNvPr id="60" name="Shape 58"/>
          <p:cNvSpPr/>
          <p:nvPr/>
        </p:nvSpPr>
        <p:spPr>
          <a:xfrm>
            <a:off x="7430414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1" name="Text 59"/>
          <p:cNvSpPr/>
          <p:nvPr/>
        </p:nvSpPr>
        <p:spPr>
          <a:xfrm>
            <a:off x="7558430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Auditoria integrada de qualidade (método + adoção)</a:t>
            </a:r>
            <a:endParaRPr lang="en-US" sz="760" dirty="0"/>
          </a:p>
        </p:txBody>
      </p:sp>
      <p:sp>
        <p:nvSpPr>
          <p:cNvPr id="62" name="Shape 60"/>
          <p:cNvSpPr/>
          <p:nvPr/>
        </p:nvSpPr>
        <p:spPr>
          <a:xfrm>
            <a:off x="7430414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3" name="Text 61"/>
          <p:cNvSpPr/>
          <p:nvPr/>
        </p:nvSpPr>
        <p:spPr>
          <a:xfrm>
            <a:off x="7558430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Playbook de transição para operação</a:t>
            </a:r>
            <a:endParaRPr lang="en-US" sz="760" dirty="0"/>
          </a:p>
        </p:txBody>
      </p:sp>
      <p:sp>
        <p:nvSpPr>
          <p:cNvPr id="64" name="Shape 62"/>
          <p:cNvSpPr/>
          <p:nvPr/>
        </p:nvSpPr>
        <p:spPr>
          <a:xfrm>
            <a:off x="9553651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53651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66" name="Text 64"/>
          <p:cNvSpPr/>
          <p:nvPr/>
        </p:nvSpPr>
        <p:spPr>
          <a:xfrm>
            <a:off x="9663379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5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9663379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9681667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9" name="Text 67"/>
          <p:cNvSpPr/>
          <p:nvPr/>
        </p:nvSpPr>
        <p:spPr>
          <a:xfrm>
            <a:off x="9809683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como padrão de todo projeto crítico</a:t>
            </a:r>
            <a:endParaRPr lang="en-US" sz="760" dirty="0"/>
          </a:p>
        </p:txBody>
      </p:sp>
      <p:sp>
        <p:nvSpPr>
          <p:cNvPr id="70" name="Shape 68"/>
          <p:cNvSpPr/>
          <p:nvPr/>
        </p:nvSpPr>
        <p:spPr>
          <a:xfrm>
            <a:off x="9681667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1" name="Text 69"/>
          <p:cNvSpPr/>
          <p:nvPr/>
        </p:nvSpPr>
        <p:spPr>
          <a:xfrm>
            <a:off x="9809683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preditivo de entrega e de adoção</a:t>
            </a:r>
            <a:endParaRPr lang="en-US" sz="760" dirty="0"/>
          </a:p>
        </p:txBody>
      </p:sp>
      <p:sp>
        <p:nvSpPr>
          <p:cNvPr id="72" name="Shape 70"/>
          <p:cNvSpPr/>
          <p:nvPr/>
        </p:nvSpPr>
        <p:spPr>
          <a:xfrm>
            <a:off x="9681667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3" name="Text 71"/>
          <p:cNvSpPr/>
          <p:nvPr/>
        </p:nvSpPr>
        <p:spPr>
          <a:xfrm>
            <a:off x="9809683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Transferência de capacidade: cliente autônomo no modelo</a:t>
            </a:r>
            <a:endParaRPr lang="en-US" sz="760" dirty="0"/>
          </a:p>
        </p:txBody>
      </p:sp>
      <p:sp>
        <p:nvSpPr>
          <p:cNvPr id="74" name="Shape 72"/>
          <p:cNvSpPr/>
          <p:nvPr/>
        </p:nvSpPr>
        <p:spPr>
          <a:xfrm>
            <a:off x="9681667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5" name="Text 73"/>
          <p:cNvSpPr/>
          <p:nvPr/>
        </p:nvSpPr>
        <p:spPr>
          <a:xfrm>
            <a:off x="9809683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do playbook integrado</a:t>
            </a:r>
            <a:endParaRPr lang="en-US" sz="760" dirty="0"/>
          </a:p>
        </p:txBody>
      </p:sp>
      <p:sp>
        <p:nvSpPr>
          <p:cNvPr id="76" name="Shape 74"/>
          <p:cNvSpPr/>
          <p:nvPr/>
        </p:nvSpPr>
        <p:spPr>
          <a:xfrm>
            <a:off x="9681667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7" name="Text 75"/>
          <p:cNvSpPr/>
          <p:nvPr/>
        </p:nvSpPr>
        <p:spPr>
          <a:xfrm>
            <a:off x="9809683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externo de governança de projetos</a:t>
            </a:r>
            <a:endParaRPr lang="en-US" sz="7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Mapa de maturidade — régua única de 5 níveis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mesma escala das três frentes: posicione o cliente aqui e leia o roadmap a partir do nível seguinte.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207203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70332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38496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76656" y="432511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" y="463600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76656" y="5093208"/>
            <a:ext cx="181599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conduzidas caso a caso, sem método comum. Resultados dependem de esforço individual; pouca visibilidade e previsibilidade.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03550" y="3291840"/>
            <a:ext cx="2072030" cy="233172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03550" y="329184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6" name="Text 14"/>
          <p:cNvSpPr/>
          <p:nvPr/>
        </p:nvSpPr>
        <p:spPr>
          <a:xfrm>
            <a:off x="2931566" y="343814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931566" y="391363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931566" y="422452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1566" y="4681728"/>
            <a:ext cx="1815998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Métodos e papéis básicos existem, mas a aplicação é inconsistente entre áreas e projetos. Padrões começam a se formar.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58461" y="2880360"/>
            <a:ext cx="2072030" cy="274320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8461" y="288036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2" name="Text 20"/>
          <p:cNvSpPr/>
          <p:nvPr/>
        </p:nvSpPr>
        <p:spPr>
          <a:xfrm>
            <a:off x="5186477" y="302666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86477" y="350215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86477" y="381304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186477" y="4270248"/>
            <a:ext cx="1815998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único, papéis claros e ritos de governança operando. A organização executa de forma consistente e comparável.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313371" y="2468880"/>
            <a:ext cx="2072030" cy="315468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3371" y="246888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8" name="Text 26"/>
          <p:cNvSpPr/>
          <p:nvPr/>
        </p:nvSpPr>
        <p:spPr>
          <a:xfrm>
            <a:off x="7441387" y="261518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41387" y="309067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41387" y="340156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41387" y="3858768"/>
            <a:ext cx="1815998" cy="1636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Disciplinas conectadas entre si e ao planejamento da organização. Decisões apoiadas por indicadores; capacidade e portfólio geridos em conjunto.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568282" y="2057400"/>
            <a:ext cx="2072030" cy="3566160"/>
          </a:xfrm>
          <a:prstGeom prst="roundRect">
            <a:avLst>
              <a:gd name="adj" fmla="val 2648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68282" y="205740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4" name="Text 32"/>
          <p:cNvSpPr/>
          <p:nvPr/>
        </p:nvSpPr>
        <p:spPr>
          <a:xfrm>
            <a:off x="9696298" y="220370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696298" y="267919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96298" y="299008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9696298" y="3447288"/>
            <a:ext cx="1815998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disciplina é vantagem competitiva: melhoria contínua institucionalizada, análise preditiva e referência externa (benchmark).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 de fit — três eixos, oferta e modo certos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o PM&amp;GO o assessment mede adequação (fit), não maturidade: 8 perguntas em três eixos — A (necessidade de entrega), B (necessidade de adoção) e C (interdependência e criticidade). O resultado recomenda a oferta certa — só EPP, só GMO, EPP + GMO apartados, PM&amp;GO integrado ou suporte leve — e o modo de atuação.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856232"/>
            <a:ext cx="354482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4944" y="196596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A · ENTREGA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94944" y="2240280"/>
            <a:ext cx="325221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Complexidade de entrega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Histórico de entrega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Capacidade de gestão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322064" y="1856232"/>
            <a:ext cx="354482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68368" y="196596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B · ADOÇÃO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68368" y="2240280"/>
            <a:ext cx="325221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Impacto nas pessoas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 de resistência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Dependência de adoção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095488" y="1856232"/>
            <a:ext cx="3544824" cy="1371600"/>
          </a:xfrm>
          <a:prstGeom prst="roundRect">
            <a:avLst>
              <a:gd name="adj" fmla="val 4000"/>
            </a:avLst>
          </a:prstGeom>
          <a:solidFill>
            <a:srgbClr val="FBF9F2"/>
          </a:solidFill>
          <a:ln w="9525">
            <a:solidFill>
              <a:srgbClr val="998D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1792" y="196596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C · INTEGRAÇÃO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41792" y="2240280"/>
            <a:ext cx="325221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Interdependência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e criticidade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3300984"/>
            <a:ext cx="110916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eixo C (interdependência + criticidade) separa PM&amp;GO integrado de EPP + GMO apartados.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3657600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RECOMENDAÇÃO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alta · B baixa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58368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Só EPP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92578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02306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baixa · B alta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902306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Só GMO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36515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46243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A+B altas · C baixa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5146243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EPP + GMO apartados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280453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4A5C72"/>
          </a:solidFill>
          <a:ln w="9525">
            <a:solidFill>
              <a:srgbClr val="4A5C7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90181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A+B+C altas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7390181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 integrado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524390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34118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Todas baixas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634118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Suporte leve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8640" y="4937760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MODO DE ATUAÇÃO (INTENSIDADE) — ortogonal à oferta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521208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4A5C72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52120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Suporte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057400" y="5212080"/>
            <a:ext cx="9582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Maturidade razoável e criticidade baixa a média.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57784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4A5C72"/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" y="55778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057400" y="5577840"/>
            <a:ext cx="9582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Maturidade em construção ou criticidade relevante.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48640" y="594360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4A5C7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59436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Diretivo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057400" y="5943600"/>
            <a:ext cx="9582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Baixa maturidade e alta criticidade — momentos decisivos.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 — papéis e responsabilidades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 Responsável · A Aprovador · C Consultado · I Informado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395374"/>
                <a:gridCol w="1395374"/>
                <a:gridCol w="1395374"/>
                <a:gridCol w="1395374"/>
                <a:gridCol w="139537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Atividade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Obliant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PMO do projeto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 GMO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Sponsor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Líderes / Equipes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Governança integrada e ritos do projeto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Planejamento e controle de entrega   [PMO]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Plano e execução da adoção   [GMO]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Matriz integrada de riscos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Comunicação e stakeholders   [GMO]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Painel duplo entrega × adoção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Definição e revisão do modo de atuação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GLOSSÁRIO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Termos e definições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Vocabulário comum — o mesmo no deck e no site.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7510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EPP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86000" y="197510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Escritório de Projetos e Processos — o produto de entrega. Operado por um PMO.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231636" y="192024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8796" y="197510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68996" y="197510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Management Office: time/estrutura que opera o EPP e conduz projetos.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48640" y="2688336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432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86000" y="2743200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da Mudança Organizacional: trata o lado humano da transformação — adoção e sustentação.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231636" y="2688336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68796" y="27432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68996" y="2743200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de um projeto, combinando EPP (entrega) + GMO (adoção).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48640" y="3456432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511296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86000" y="3511296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que posiciona o cliente na régua de maturidade e gera o roadmap recomendado.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231636" y="3456432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68796" y="3511296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Maturidade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968996" y="3511296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Régua de 5 níveis (Inicial → Excelência) comum aos três produtos.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8640" y="4224528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427939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86000" y="4279392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Matriz de papéis: Responsável, Aprovador, Consultado, Informado.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231636" y="4224528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68796" y="427939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OCM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68996" y="4279392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Organizational Change Management; base conceitual do GMO (ADKAR, Kotter, ACMP).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48640" y="4992624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504748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Modo de atuação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286000" y="5047488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Intensidade da atuação Obliant no PM&amp;GO: Suporte → Controle → Diretivo.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231636" y="4992624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68796" y="504748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968996" y="5047488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 camada de cada produto: objetivo, escopo, pilares e entregáveis.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8640" y="576072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581558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286000" y="581558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Segunda camada: iniciativas organizadas por nível de maturidade — jornada de evolução.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231636" y="576072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68796" y="581558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Fit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968996" y="581558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Adequação: o assessment do PM&amp;GO mede necessidade de entrega × necessidade de adoção.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Uma metodologia.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Três produtos. Uma régua.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entrega  ·  GMO adota  ·  PM&amp;GO integra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5943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Metodologia Governança, Projetos e Mudança</dc:title>
  <dc:subject>PptxGenJS Presentation</dc:subject>
  <dc:creator>Obliant Digital</dc:creator>
  <cp:lastModifiedBy>Obliant Digital</cp:lastModifiedBy>
  <cp:revision>1</cp:revision>
  <dcterms:created xsi:type="dcterms:W3CDTF">2026-07-02T16:45:10Z</dcterms:created>
  <dcterms:modified xsi:type="dcterms:W3CDTF">2026-07-02T16:45:10Z</dcterms:modified>
</cp:coreProperties>
</file>